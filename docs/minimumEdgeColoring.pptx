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72" r:id="rId3"/>
    <p:sldId id="259" r:id="rId4"/>
    <p:sldId id="257" r:id="rId5"/>
    <p:sldId id="258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67" r:id="rId15"/>
    <p:sldId id="269" r:id="rId16"/>
    <p:sldId id="271" r:id="rId17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D904DC-FE7E-4ABE-93F6-1331BFA6E806}" v="576" dt="2026-02-07T15:36:26.916"/>
    <p1510:client id="{2AAF6858-E71A-CFC9-1709-27D733D86B58}" v="502" dt="2026-02-07T20:17:41.123"/>
    <p1510:client id="{B1A7A58B-C9D7-41F2-AF49-9BD4DABB1CC7}" v="114" dt="2026-02-07T15:42:56.161"/>
    <p1510:client id="{EA2B4048-7535-C55D-D26F-F20E6F4348B9}" v="242" dt="2026-02-07T20:43:47.6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736A0-9F24-45BF-B389-F6478DB45C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28700"/>
            <a:ext cx="9144000" cy="2481263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000" spc="7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3D85EF-076F-4C35-862A-BAFF685DD6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24376"/>
            <a:ext cx="9144000" cy="1433423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1600" b="1" cap="all" spc="600" baseline="0"/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221EC-BF54-4DDD-8900-F2027CDAD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411FB-1606-4EC5-9BCA-2DC04C2243EA}" type="datetimeFigureOut">
              <a:rPr lang="en-US" dirty="0"/>
              <a:t>2/7/2026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D5AB69-7069-48FB-8925-F2BA84129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9C32A-F7A5-4E3B-A28F-09C82341E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212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E99D7-1EE5-4262-9359-A0E2B7331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93080"/>
            <a:ext cx="10240903" cy="123348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DA1C5-272A-45C2-A11A-E7769A27D3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114939"/>
            <a:ext cx="10240903" cy="395617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63DA15-1EAB-4524-9BB7-8A7DA82A2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CAA53-8FBA-45E2-8B10-F7DD55E4E759}" type="datetimeFigureOut">
              <a:rPr lang="en-US" dirty="0"/>
              <a:t>2/7/2026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B93B9-7818-489D-AFFB-B6EAD27FF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528D36-894E-4FCB-B8BB-84DE89949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28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964F1-5687-421F-B3DF-BA3C8DADC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0930" y="1709738"/>
            <a:ext cx="9966519" cy="2852737"/>
          </a:xfrm>
        </p:spPr>
        <p:txBody>
          <a:bodyPr anchor="b">
            <a:normAutofit/>
          </a:bodyPr>
          <a:lstStyle>
            <a:lvl1pPr>
              <a:defRPr sz="4400" spc="7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DBB876-5FD9-4964-BD37-6F05DAEBE3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0930" y="4976327"/>
            <a:ext cx="9966520" cy="1113323"/>
          </a:xfrm>
        </p:spPr>
        <p:txBody>
          <a:bodyPr>
            <a:normAutofit/>
          </a:bodyPr>
          <a:lstStyle>
            <a:lvl1pPr marL="0" indent="0">
              <a:buNone/>
              <a:defRPr sz="1200" spc="6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EA80A-FCDD-4009-9A1F-8B5481786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C84CF-6F0D-4195-920D-9D6F75893720}" type="datetimeFigureOut">
              <a:rPr lang="en-US" dirty="0"/>
              <a:t>2/7/2026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4A3422-56D9-4942-BC63-831AED91F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D4B42A-AC2C-4FD8-AD0D-BECDD3846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1673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FDAF1-8359-4A0F-91B3-03E77C670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054" y="457200"/>
            <a:ext cx="10309745" cy="1233488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1E3D3-6B33-4CA0-B06B-A8BB05CAB3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44054" y="1996141"/>
            <a:ext cx="4975746" cy="41808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29C334-815D-47FD-A9B5-E871E28641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96141"/>
            <a:ext cx="5181600" cy="41808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7975F2-7A90-4820-B90F-D28E31A35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B3BBE-A1CF-4CC7-B02C-EBCBBE110242}" type="datetimeFigureOut">
              <a:rPr lang="en-US" dirty="0"/>
              <a:t>2/7/2026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3CFAD5-8AF8-4610-8324-85AA062E2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808CC8-C46E-4A10-8A83-7A251067E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875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E82B8-F9D9-4F53-A4A6-F12EB5F12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8490" y="457200"/>
            <a:ext cx="9986898" cy="1233488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F070CA-85E9-47C7-8564-FFA1AE34B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8490" y="1681163"/>
            <a:ext cx="462908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38D4B1-41B3-4BF5-9076-A16984A81F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68490" y="2505075"/>
            <a:ext cx="4629085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6A38DC-A016-4CFD-AC19-F24A9E0620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4816" y="1681163"/>
            <a:ext cx="501057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F930FA-8C00-42AB-B2D1-FE4E4BDB3C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4814" y="2505075"/>
            <a:ext cx="5010573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8B698E-FAE5-4F2C-AE0E-4FD281E8F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D63E4-71A5-4C63-9515-748B28B89764}" type="datetimeFigureOut">
              <a:rPr lang="en-US" dirty="0"/>
              <a:t>2/7/2026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C4BB6C-CAA4-4EA8-8EA1-65ADE056F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BB6A12-0532-47CA-B070-232141CC1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2982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08FA1-831E-4AD6-B0D1-BA85E67A5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457200"/>
            <a:ext cx="9982199" cy="1233488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E94142-C469-4B0E-8C01-C64BA28F5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92BAC-F228-4DAC-8800-3D810F869187}" type="datetimeFigureOut">
              <a:rPr lang="en-US" dirty="0"/>
              <a:t>2/7/2026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AAFCE6-5C7E-438F-8D4A-21E155681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ACFD88-63EA-427F-978C-B7844D1A5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5519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82A4F0-76A5-4852-982B-32B3B6857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EFFE8-7E8E-427A-AB26-E496551AFB7B}" type="datetimeFigureOut">
              <a:rPr lang="en-US" dirty="0"/>
              <a:t>2/7/2026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50CFAE-4BEB-4272-A2E6-FDD9D6A03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3B71B7-74B7-4CF1-8FE0-F4863CD7D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6353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432BE-C4E5-4F12-AB53-EBEF2B76B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755" y="457200"/>
            <a:ext cx="3932237" cy="192143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E7F57-4ABF-4BA4-A892-38857A02F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8130" y="987425"/>
            <a:ext cx="5707257" cy="487362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32E444-E5BD-443F-AB83-84D7CE0AB7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18755" y="2799184"/>
            <a:ext cx="3932237" cy="306980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1998A4-FD2F-4126-99C5-E2063AE02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C8B19-DE76-4E18-BFC7-EB25B8C421E7}" type="datetimeFigureOut">
              <a:rPr lang="en-US" dirty="0"/>
              <a:t>2/7/2026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6457D3-F808-4DB2-9C9C-B185E71F2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31BC9B-21D1-4D2D-B02E-C887A02CA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6443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43EC2-2D8C-4E8D-8CC7-967648014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966" y="681135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66AF89-5FBD-43DD-958D-A5C608AE2E2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834742" y="858417"/>
            <a:ext cx="5520645" cy="500263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70A545-2CE6-48C4-A725-EF68A3F1BF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8966" y="2281335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4466B2-6FE6-4352-BBF9-84BCD946C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0BD94-1F69-4074-BD82-D6EDB89FE74F}" type="datetimeFigureOut">
              <a:rPr lang="en-US" dirty="0"/>
              <a:t>2/7/2026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8991BC-29A5-4182-BD83-9D99D2889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C1C78F-6633-4604-8832-8E9D2DC76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110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A997B-D473-47DE-8B7B-22AB6F31E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526035-4B81-4537-A22D-92C2E0DBB6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C2A44D-F637-4017-BAA2-77756A386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F3D07-6BCF-40BC-A7F7-89BB8FFE98C6}" type="datetimeFigureOut">
              <a:rPr lang="en-US" dirty="0"/>
              <a:t>2/7/2026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C1DCE6-ED7D-417C-ABD4-41D61570F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AF19A-FDAE-446A-A6B6-128F7F96A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168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96D838-45E9-4D61-AA4E-92A32B579F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457199"/>
            <a:ext cx="2628900" cy="5719763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3183D0-4392-4364-8A2D-C47A2AF7A8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457199"/>
            <a:ext cx="7734300" cy="5719763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4A36C9-28D5-4820-84F1-E4B9F4E50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16D97-0980-426F-BEA7-F6EB2DE3AC08}" type="datetimeFigureOut">
              <a:rPr lang="en-US" dirty="0"/>
              <a:t>2/7/2026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7EDC8-558D-4646-86D9-A5424CF2A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0B7537-E67A-411A-BBA4-061521D3D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0786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D4C0BBB-0042-4603-A226-6117F3FD5B3C}"/>
              </a:ext>
            </a:extLst>
          </p:cNvPr>
          <p:cNvSpPr/>
          <p:nvPr/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44F520-2598-460E-9F91-B02F60830CA2}"/>
              </a:ext>
            </a:extLst>
          </p:cNvPr>
          <p:cNvSpPr/>
          <p:nvPr/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478F2F-4F04-4604-9005-BF0CB1142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61666"/>
            <a:ext cx="9810376" cy="1659404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4A17D2-52AF-4B40-80A8-3E0DB855F2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810376" cy="385781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2E0AA-D5B3-4BCF-BA69-209D9B335A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10111" y="6409170"/>
            <a:ext cx="3702392" cy="448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chemeClr val="bg1"/>
                </a:solidFill>
              </a:defRPr>
            </a:lvl1pPr>
          </a:lstStyle>
          <a:p>
            <a:fld id="{149C728D-416F-40D5-8F13-55E5DD1CE8D1}" type="datetimeFigureOut">
              <a:rPr lang="en-US" dirty="0"/>
              <a:t>2/7/2026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A637-D86F-4FA1-985D-2D82456511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828801" y="1912217"/>
            <a:ext cx="411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2FA4D-A931-46BA-B767-29A6FD5AAD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9678" y="6408742"/>
            <a:ext cx="438652" cy="448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5333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i="0" kern="1200" cap="all" spc="7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88">
          <p15:clr>
            <a:srgbClr val="F26B43"/>
          </p15:clr>
        </p15:guide>
        <p15:guide id="4" pos="288">
          <p15:clr>
            <a:srgbClr val="F26B43"/>
          </p15:clr>
        </p15:guide>
        <p15:guide id="5" orient="horz" pos="4032">
          <p15:clr>
            <a:srgbClr val="F26B43"/>
          </p15:clr>
        </p15:guide>
        <p15:guide id="6" pos="7392">
          <p15:clr>
            <a:srgbClr val="F26B43"/>
          </p15:clr>
        </p15:guide>
        <p15:guide id="7" pos="5112">
          <p15:clr>
            <a:srgbClr val="F26B43"/>
          </p15:clr>
        </p15:guide>
        <p15:guide id="8" pos="2544">
          <p15:clr>
            <a:srgbClr val="F26B43"/>
          </p15:clr>
        </p15:guide>
        <p15:guide id="9" pos="864">
          <p15:clr>
            <a:srgbClr val="F26B43"/>
          </p15:clr>
        </p15:guide>
        <p15:guide id="10" orient="horz" pos="648">
          <p15:clr>
            <a:srgbClr val="F26B43"/>
          </p15:clr>
        </p15:guide>
        <p15:guide id="11" pos="681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Minimum edge </a:t>
            </a:r>
            <a:r>
              <a:rPr lang="en-GB" dirty="0" err="1"/>
              <a:t>coloring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1706F-5BCD-60BF-992A-D0A200C36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1516" y="-255954"/>
            <a:ext cx="10309745" cy="1233488"/>
          </a:xfrm>
        </p:spPr>
        <p:txBody>
          <a:bodyPr/>
          <a:lstStyle/>
          <a:p>
            <a:r>
              <a:rPr lang="en-US" dirty="0" err="1"/>
              <a:t>OPis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3F14E-26A1-61A0-98DC-A4B8FBC997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3592" y="1253679"/>
            <a:ext cx="10309746" cy="4962360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Neka je </a:t>
            </a:r>
            <a:r>
              <a:rPr lang="en-US" err="1">
                <a:ea typeface="+mn-lt"/>
                <a:cs typeface="+mn-lt"/>
              </a:rPr>
              <a:t>graf</a:t>
            </a:r>
            <a:r>
              <a:rPr lang="en-US" dirty="0">
                <a:ea typeface="+mn-lt"/>
                <a:cs typeface="+mn-lt"/>
              </a:rPr>
              <a:t> G(V,E) prost </a:t>
            </a:r>
            <a:r>
              <a:rPr lang="en-US" err="1">
                <a:ea typeface="+mn-lt"/>
                <a:cs typeface="+mn-lt"/>
              </a:rPr>
              <a:t>neorijentisani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graf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gde</a:t>
            </a:r>
            <a:r>
              <a:rPr lang="en-US" dirty="0">
                <a:ea typeface="+mn-lt"/>
                <a:cs typeface="+mn-lt"/>
              </a:rPr>
              <a:t> je V </a:t>
            </a:r>
            <a:r>
              <a:rPr lang="en-US" err="1">
                <a:ea typeface="+mn-lt"/>
                <a:cs typeface="+mn-lt"/>
              </a:rPr>
              <a:t>broj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čvorova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i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err="1">
                <a:ea typeface="+mn-lt"/>
                <a:cs typeface="+mn-lt"/>
              </a:rPr>
              <a:t>broj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ivica</a:t>
            </a:r>
            <a:r>
              <a:rPr lang="en-US" dirty="0">
                <a:ea typeface="+mn-lt"/>
                <a:cs typeface="+mn-lt"/>
              </a:rPr>
              <a:t>. </a:t>
            </a:r>
          </a:p>
          <a:p>
            <a:r>
              <a:rPr lang="en-US" dirty="0">
                <a:ea typeface="+mn-lt"/>
                <a:cs typeface="+mn-lt"/>
              </a:rPr>
              <a:t>Prost </a:t>
            </a:r>
            <a:r>
              <a:rPr lang="en-US" dirty="0" err="1">
                <a:ea typeface="+mn-lt"/>
                <a:cs typeface="+mn-lt"/>
              </a:rPr>
              <a:t>graf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podrazumeva</a:t>
            </a:r>
            <a:r>
              <a:rPr lang="en-US" dirty="0">
                <a:ea typeface="+mn-lt"/>
                <a:cs typeface="+mn-lt"/>
              </a:rPr>
              <a:t> da ne </a:t>
            </a:r>
            <a:r>
              <a:rPr lang="en-US" dirty="0" err="1">
                <a:ea typeface="+mn-lt"/>
                <a:cs typeface="+mn-lt"/>
              </a:rPr>
              <a:t>postoje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višestruke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ivice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koje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spajaju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ista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dva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čvora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kao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ni</a:t>
            </a:r>
            <a:r>
              <a:rPr lang="en-US" dirty="0">
                <a:ea typeface="+mn-lt"/>
                <a:cs typeface="+mn-lt"/>
              </a:rPr>
              <a:t> da ne </a:t>
            </a:r>
            <a:r>
              <a:rPr lang="en-US" dirty="0" err="1">
                <a:ea typeface="+mn-lt"/>
                <a:cs typeface="+mn-lt"/>
              </a:rPr>
              <a:t>postoje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petlje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r>
              <a:rPr lang="en-US" dirty="0">
                <a:ea typeface="+mn-lt"/>
                <a:cs typeface="+mn-lt"/>
              </a:rPr>
              <a:t>Grane se </a:t>
            </a:r>
            <a:r>
              <a:rPr lang="en-US" dirty="0" err="1">
                <a:ea typeface="+mn-lt"/>
                <a:cs typeface="+mn-lt"/>
              </a:rPr>
              <a:t>boje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tako</a:t>
            </a:r>
            <a:r>
              <a:rPr lang="en-US" dirty="0">
                <a:ea typeface="+mn-lt"/>
                <a:cs typeface="+mn-lt"/>
              </a:rPr>
              <a:t> da </a:t>
            </a:r>
            <a:r>
              <a:rPr lang="en-US" dirty="0" err="1">
                <a:ea typeface="+mn-lt"/>
                <a:cs typeface="+mn-lt"/>
              </a:rPr>
              <a:t>nikoje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dve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grane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koje</a:t>
            </a:r>
            <a:r>
              <a:rPr lang="en-US" dirty="0">
                <a:ea typeface="+mn-lt"/>
                <a:cs typeface="+mn-lt"/>
              </a:rPr>
              <a:t> se </a:t>
            </a:r>
            <a:r>
              <a:rPr lang="en-US" dirty="0" err="1">
                <a:ea typeface="+mn-lt"/>
                <a:cs typeface="+mn-lt"/>
              </a:rPr>
              <a:t>susreću</a:t>
            </a:r>
            <a:r>
              <a:rPr lang="en-US" dirty="0">
                <a:ea typeface="+mn-lt"/>
                <a:cs typeface="+mn-lt"/>
              </a:rPr>
              <a:t> u </a:t>
            </a:r>
            <a:r>
              <a:rPr lang="en-US" dirty="0" err="1">
                <a:ea typeface="+mn-lt"/>
                <a:cs typeface="+mn-lt"/>
              </a:rPr>
              <a:t>istom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čvoru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nisu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obojene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istom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bojom</a:t>
            </a:r>
            <a:r>
              <a:rPr lang="en-US" dirty="0">
                <a:ea typeface="+mn-lt"/>
                <a:cs typeface="+mn-lt"/>
              </a:rPr>
              <a:t>. </a:t>
            </a:r>
          </a:p>
          <a:p>
            <a:r>
              <a:rPr lang="en-US" dirty="0">
                <a:ea typeface="+mn-lt"/>
                <a:cs typeface="+mn-lt"/>
              </a:rPr>
              <a:t>Vadim G. </a:t>
            </a:r>
            <a:r>
              <a:rPr lang="en-US" err="1">
                <a:ea typeface="+mn-lt"/>
                <a:cs typeface="+mn-lt"/>
              </a:rPr>
              <a:t>Vizing</a:t>
            </a:r>
            <a:r>
              <a:rPr lang="en-US" dirty="0">
                <a:ea typeface="+mn-lt"/>
                <a:cs typeface="+mn-lt"/>
              </a:rPr>
              <a:t> je </a:t>
            </a:r>
            <a:r>
              <a:rPr lang="en-US" err="1">
                <a:ea typeface="+mn-lt"/>
                <a:cs typeface="+mn-lt"/>
              </a:rPr>
              <a:t>dokazao</a:t>
            </a:r>
            <a:r>
              <a:rPr lang="en-US" dirty="0">
                <a:ea typeface="+mn-lt"/>
                <a:cs typeface="+mn-lt"/>
              </a:rPr>
              <a:t> da </a:t>
            </a:r>
            <a:r>
              <a:rPr lang="en-US" err="1">
                <a:ea typeface="+mn-lt"/>
                <a:cs typeface="+mn-lt"/>
              </a:rPr>
              <a:t>minimalan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broj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boja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ivica</a:t>
            </a:r>
            <a:r>
              <a:rPr lang="en-US" dirty="0">
                <a:ea typeface="+mn-lt"/>
                <a:cs typeface="+mn-lt"/>
              </a:rPr>
              <a:t> mora </a:t>
            </a:r>
            <a:r>
              <a:rPr lang="en-US" err="1">
                <a:ea typeface="+mn-lt"/>
                <a:cs typeface="+mn-lt"/>
              </a:rPr>
              <a:t>biti</a:t>
            </a:r>
            <a:r>
              <a:rPr lang="en-US" dirty="0">
                <a:ea typeface="+mn-lt"/>
                <a:cs typeface="+mn-lt"/>
              </a:rPr>
              <a:t> Δ </a:t>
            </a:r>
            <a:r>
              <a:rPr lang="en-US" err="1">
                <a:ea typeface="+mn-lt"/>
                <a:cs typeface="+mn-lt"/>
              </a:rPr>
              <a:t>ili</a:t>
            </a:r>
            <a:r>
              <a:rPr lang="en-US" dirty="0">
                <a:ea typeface="+mn-lt"/>
                <a:cs typeface="+mn-lt"/>
              </a:rPr>
              <a:t> Δ+1. </a:t>
            </a:r>
            <a:r>
              <a:rPr lang="en-US" err="1">
                <a:ea typeface="+mn-lt"/>
                <a:cs typeface="+mn-lt"/>
              </a:rPr>
              <a:t>Gde</a:t>
            </a:r>
            <a:r>
              <a:rPr lang="en-US" dirty="0">
                <a:ea typeface="+mn-lt"/>
                <a:cs typeface="+mn-lt"/>
              </a:rPr>
              <a:t> je Δ  </a:t>
            </a:r>
            <a:r>
              <a:rPr lang="en-US" err="1">
                <a:ea typeface="+mn-lt"/>
                <a:cs typeface="+mn-lt"/>
              </a:rPr>
              <a:t>maksimalan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stepen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grafa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r>
              <a:rPr lang="en-US" dirty="0" err="1">
                <a:ea typeface="+mn-lt"/>
                <a:cs typeface="+mn-lt"/>
              </a:rPr>
              <a:t>Ovde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dolazimo</a:t>
            </a:r>
            <a:r>
              <a:rPr lang="en-US" dirty="0">
                <a:ea typeface="+mn-lt"/>
                <a:cs typeface="+mn-lt"/>
              </a:rPr>
              <a:t> do </a:t>
            </a:r>
            <a:r>
              <a:rPr lang="en-US" dirty="0" err="1">
                <a:ea typeface="+mn-lt"/>
                <a:cs typeface="+mn-lt"/>
              </a:rPr>
              <a:t>nastanka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dve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klase</a:t>
            </a:r>
            <a:r>
              <a:rPr lang="en-US" dirty="0">
                <a:ea typeface="+mn-lt"/>
                <a:cs typeface="+mn-lt"/>
              </a:rPr>
              <a:t>, u </a:t>
            </a:r>
            <a:r>
              <a:rPr lang="en-US" dirty="0" err="1">
                <a:ea typeface="+mn-lt"/>
                <a:cs typeface="+mn-lt"/>
              </a:rPr>
              <a:t>jednu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spadaju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grafovi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čije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ivice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mogu</a:t>
            </a:r>
            <a:r>
              <a:rPr lang="en-US" dirty="0">
                <a:ea typeface="+mn-lt"/>
                <a:cs typeface="+mn-lt"/>
              </a:rPr>
              <a:t> da se </a:t>
            </a:r>
            <a:r>
              <a:rPr lang="en-US" dirty="0" err="1">
                <a:ea typeface="+mn-lt"/>
                <a:cs typeface="+mn-lt"/>
              </a:rPr>
              <a:t>oboje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sa</a:t>
            </a:r>
            <a:r>
              <a:rPr lang="en-US" dirty="0">
                <a:ea typeface="+mn-lt"/>
                <a:cs typeface="+mn-lt"/>
              </a:rPr>
              <a:t> Δ </a:t>
            </a:r>
            <a:r>
              <a:rPr lang="en-US" dirty="0" err="1">
                <a:ea typeface="+mn-lt"/>
                <a:cs typeface="+mn-lt"/>
              </a:rPr>
              <a:t>boja</a:t>
            </a:r>
            <a:r>
              <a:rPr lang="en-US" dirty="0">
                <a:ea typeface="+mn-lt"/>
                <a:cs typeface="+mn-lt"/>
              </a:rPr>
              <a:t>, u </a:t>
            </a:r>
            <a:r>
              <a:rPr lang="en-US" dirty="0" err="1">
                <a:ea typeface="+mn-lt"/>
                <a:cs typeface="+mn-lt"/>
              </a:rPr>
              <a:t>drugu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grafovi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sa</a:t>
            </a:r>
            <a:r>
              <a:rPr lang="en-US" dirty="0">
                <a:ea typeface="+mn-lt"/>
                <a:cs typeface="+mn-lt"/>
              </a:rPr>
              <a:t> Δ + 1 </a:t>
            </a:r>
            <a:r>
              <a:rPr lang="en-US" dirty="0" err="1">
                <a:ea typeface="+mn-lt"/>
                <a:cs typeface="+mn-lt"/>
              </a:rPr>
              <a:t>boja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r>
              <a:rPr lang="en-US" dirty="0">
                <a:ea typeface="+mn-lt"/>
                <a:cs typeface="+mn-lt"/>
              </a:rPr>
              <a:t>Problem </a:t>
            </a:r>
            <a:r>
              <a:rPr lang="en-US" dirty="0" err="1">
                <a:ea typeface="+mn-lt"/>
                <a:cs typeface="+mn-lt"/>
              </a:rPr>
              <a:t>ispitivanja</a:t>
            </a:r>
            <a:r>
              <a:rPr lang="en-US" dirty="0">
                <a:ea typeface="+mn-lt"/>
                <a:cs typeface="+mn-lt"/>
              </a:rPr>
              <a:t> da li je </a:t>
            </a:r>
            <a:r>
              <a:rPr lang="en-US" dirty="0" err="1">
                <a:ea typeface="+mn-lt"/>
                <a:cs typeface="+mn-lt"/>
              </a:rPr>
              <a:t>graf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klase</a:t>
            </a:r>
            <a:r>
              <a:rPr lang="en-US" dirty="0">
                <a:ea typeface="+mn-lt"/>
                <a:cs typeface="+mn-lt"/>
              </a:rPr>
              <a:t> I </a:t>
            </a:r>
            <a:r>
              <a:rPr lang="en-US" dirty="0" err="1">
                <a:ea typeface="+mn-lt"/>
                <a:cs typeface="+mn-lt"/>
              </a:rPr>
              <a:t>ili</a:t>
            </a:r>
            <a:r>
              <a:rPr lang="en-US" dirty="0">
                <a:ea typeface="+mn-lt"/>
                <a:cs typeface="+mn-lt"/>
              </a:rPr>
              <a:t> II je NP </a:t>
            </a:r>
            <a:r>
              <a:rPr lang="en-US" dirty="0" err="1">
                <a:ea typeface="+mn-lt"/>
                <a:cs typeface="+mn-lt"/>
              </a:rPr>
              <a:t>težak</a:t>
            </a:r>
            <a:r>
              <a:rPr lang="en-US" dirty="0">
                <a:ea typeface="+mn-lt"/>
                <a:cs typeface="+mn-lt"/>
              </a:rPr>
              <a:t>. 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82BD88-30E7-669F-3373-7FBFD9BCC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BF396-FBF0-41AA-9B3B-4E7780A51A57}" type="datetime1">
              <a:t>2/7/2026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E8D7B8-AFAC-9E3A-34F3-270E72E9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69380C-E023-EF9A-5CF3-BC2CBDD5E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9651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BC550-D82A-E249-B7FB-3AB51FF2AF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44054" y="440391"/>
            <a:ext cx="5055527" cy="5736572"/>
          </a:xfrm>
        </p:spPr>
        <p:txBody>
          <a:bodyPr vert="horz" lIns="0" tIns="0" rIns="0" bIns="0" rtlCol="0" anchor="t">
            <a:normAutofit/>
          </a:bodyPr>
          <a:lstStyle/>
          <a:p>
            <a:pPr marL="342900" indent="-342900"/>
            <a:r>
              <a:rPr lang="en-GB" dirty="0" err="1"/>
              <a:t>Više</a:t>
            </a:r>
            <a:r>
              <a:rPr lang="en-GB" dirty="0"/>
              <a:t> </a:t>
            </a:r>
            <a:r>
              <a:rPr lang="en-GB" dirty="0" err="1"/>
              <a:t>podgrupa</a:t>
            </a:r>
            <a:r>
              <a:rPr lang="en-GB" dirty="0"/>
              <a:t> </a:t>
            </a:r>
            <a:r>
              <a:rPr lang="en-GB" dirty="0" err="1"/>
              <a:t>grafova</a:t>
            </a:r>
            <a:r>
              <a:rPr lang="en-GB" dirty="0"/>
              <a:t>: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GB" dirty="0"/>
              <a:t>Small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dirty="0"/>
              <a:t>Big - 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GB" dirty="0"/>
              <a:t>Instance </a:t>
            </a:r>
            <a:r>
              <a:rPr lang="en-GB" dirty="0" err="1"/>
              <a:t>sa</a:t>
            </a:r>
            <a:r>
              <a:rPr lang="en-GB" dirty="0"/>
              <a:t> </a:t>
            </a:r>
            <a:r>
              <a:rPr lang="en-GB" dirty="0" err="1"/>
              <a:t>interneta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GB" dirty="0" err="1"/>
              <a:t>Izgenerisani</a:t>
            </a:r>
            <a:r>
              <a:rPr lang="en-GB" dirty="0"/>
              <a:t> </a:t>
            </a:r>
            <a:r>
              <a:rPr lang="en-GB" dirty="0" err="1"/>
              <a:t>uz</a:t>
            </a:r>
            <a:r>
              <a:rPr lang="en-GB" dirty="0"/>
              <a:t> </a:t>
            </a:r>
            <a:r>
              <a:rPr lang="en-GB" dirty="0" err="1"/>
              <a:t>pomoć</a:t>
            </a:r>
            <a:r>
              <a:rPr lang="en-GB" dirty="0"/>
              <a:t> </a:t>
            </a:r>
            <a:r>
              <a:rPr lang="en-GB" dirty="0" err="1"/>
              <a:t>biblioteke</a:t>
            </a:r>
            <a:r>
              <a:rPr lang="en-GB" dirty="0"/>
              <a:t> </a:t>
            </a:r>
            <a:r>
              <a:rPr lang="en-GB" dirty="0" err="1"/>
              <a:t>networkx</a:t>
            </a:r>
          </a:p>
          <a:p>
            <a:pPr marL="457200" lvl="1" indent="0">
              <a:buNone/>
            </a:pPr>
            <a:r>
              <a:rPr lang="en-GB" dirty="0"/>
              <a:t>--------------------------------</a:t>
            </a:r>
          </a:p>
          <a:p>
            <a:pPr marL="457200" lvl="1" indent="0">
              <a:buNone/>
            </a:pP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1614D7-5F68-CB4E-F92E-9AAA4E0BEC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2419" y="440391"/>
            <a:ext cx="5261381" cy="5736572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GB" dirty="0" err="1"/>
              <a:t>Teoremski</a:t>
            </a:r>
            <a:endParaRPr lang="en-GB"/>
          </a:p>
          <a:p>
            <a:pPr lvl="1">
              <a:buFont typeface="Courier New" panose="020B0604020202020204" pitchFamily="34" charset="0"/>
              <a:buChar char="o"/>
            </a:pPr>
            <a:r>
              <a:rPr lang="en-GB" sz="1800" err="1">
                <a:ea typeface="+mn-lt"/>
                <a:cs typeface="+mn-lt"/>
              </a:rPr>
              <a:t>Kompletni</a:t>
            </a:r>
            <a:r>
              <a:rPr lang="en-GB" sz="1800" dirty="0">
                <a:ea typeface="+mn-lt"/>
                <a:cs typeface="+mn-lt"/>
              </a:rPr>
              <a:t> -</a:t>
            </a:r>
            <a:r>
              <a:rPr lang="en-GB" sz="1800" err="1">
                <a:ea typeface="+mn-lt"/>
                <a:cs typeface="+mn-lt"/>
              </a:rPr>
              <a:t>svaki</a:t>
            </a:r>
            <a:r>
              <a:rPr lang="en-GB" sz="1800" dirty="0">
                <a:ea typeface="+mn-lt"/>
                <a:cs typeface="+mn-lt"/>
              </a:rPr>
              <a:t> </a:t>
            </a:r>
            <a:r>
              <a:rPr lang="en-GB" sz="1800" err="1">
                <a:ea typeface="+mn-lt"/>
                <a:cs typeface="+mn-lt"/>
              </a:rPr>
              <a:t>čvor</a:t>
            </a:r>
            <a:r>
              <a:rPr lang="en-GB" sz="1800" dirty="0">
                <a:ea typeface="+mn-lt"/>
                <a:cs typeface="+mn-lt"/>
              </a:rPr>
              <a:t> je </a:t>
            </a:r>
            <a:r>
              <a:rPr lang="en-GB" sz="1800" err="1">
                <a:ea typeface="+mn-lt"/>
                <a:cs typeface="+mn-lt"/>
              </a:rPr>
              <a:t>direktno</a:t>
            </a:r>
            <a:r>
              <a:rPr lang="en-GB" sz="1800" dirty="0">
                <a:ea typeface="+mn-lt"/>
                <a:cs typeface="+mn-lt"/>
              </a:rPr>
              <a:t> </a:t>
            </a:r>
            <a:r>
              <a:rPr lang="en-GB" sz="1800" err="1">
                <a:ea typeface="+mn-lt"/>
                <a:cs typeface="+mn-lt"/>
              </a:rPr>
              <a:t>povezan</a:t>
            </a:r>
            <a:r>
              <a:rPr lang="en-GB" sz="1800" dirty="0">
                <a:ea typeface="+mn-lt"/>
                <a:cs typeface="+mn-lt"/>
              </a:rPr>
              <a:t> </a:t>
            </a:r>
            <a:r>
              <a:rPr lang="en-GB" sz="1800" err="1">
                <a:ea typeface="+mn-lt"/>
                <a:cs typeface="+mn-lt"/>
              </a:rPr>
              <a:t>sa</a:t>
            </a:r>
            <a:r>
              <a:rPr lang="en-GB" sz="1800" dirty="0">
                <a:ea typeface="+mn-lt"/>
                <a:cs typeface="+mn-lt"/>
              </a:rPr>
              <a:t> </a:t>
            </a:r>
            <a:r>
              <a:rPr lang="en-GB" sz="1800" err="1">
                <a:ea typeface="+mn-lt"/>
                <a:cs typeface="+mn-lt"/>
              </a:rPr>
              <a:t>ostalim</a:t>
            </a:r>
            <a:r>
              <a:rPr lang="en-GB" sz="1800" dirty="0">
                <a:ea typeface="+mn-lt"/>
                <a:cs typeface="+mn-lt"/>
              </a:rPr>
              <a:t> </a:t>
            </a:r>
            <a:r>
              <a:rPr lang="en-GB" sz="1800" err="1">
                <a:ea typeface="+mn-lt"/>
                <a:cs typeface="+mn-lt"/>
              </a:rPr>
              <a:t>čvorovima</a:t>
            </a:r>
            <a:r>
              <a:rPr lang="en-GB" sz="1800" dirty="0">
                <a:ea typeface="+mn-lt"/>
                <a:cs typeface="+mn-lt"/>
              </a:rPr>
              <a:t> </a:t>
            </a:r>
            <a:r>
              <a:rPr lang="en-GB" sz="1800" err="1">
                <a:ea typeface="+mn-lt"/>
                <a:cs typeface="+mn-lt"/>
              </a:rPr>
              <a:t>grafa</a:t>
            </a:r>
            <a:r>
              <a:rPr lang="en-GB" sz="1800" dirty="0">
                <a:ea typeface="+mn-lt"/>
                <a:cs typeface="+mn-lt"/>
              </a:rPr>
              <a:t>. </a:t>
            </a:r>
            <a:r>
              <a:rPr lang="en-GB" sz="1800" err="1">
                <a:ea typeface="+mn-lt"/>
                <a:cs typeface="+mn-lt"/>
              </a:rPr>
              <a:t>Teoreme</a:t>
            </a:r>
            <a:r>
              <a:rPr lang="en-GB" sz="1800" dirty="0">
                <a:ea typeface="+mn-lt"/>
                <a:cs typeface="+mn-lt"/>
              </a:rPr>
              <a:t> </a:t>
            </a:r>
            <a:r>
              <a:rPr lang="en-GB" sz="1800" err="1">
                <a:ea typeface="+mn-lt"/>
                <a:cs typeface="+mn-lt"/>
              </a:rPr>
              <a:t>kažu</a:t>
            </a:r>
            <a:r>
              <a:rPr lang="en-GB" sz="1800" dirty="0">
                <a:ea typeface="+mn-lt"/>
                <a:cs typeface="+mn-lt"/>
              </a:rPr>
              <a:t> da </a:t>
            </a:r>
            <a:r>
              <a:rPr lang="en-GB" sz="1800" err="1">
                <a:ea typeface="+mn-lt"/>
                <a:cs typeface="+mn-lt"/>
              </a:rPr>
              <a:t>ukoliko</a:t>
            </a:r>
            <a:r>
              <a:rPr lang="en-GB" sz="1800" dirty="0">
                <a:ea typeface="+mn-lt"/>
                <a:cs typeface="+mn-lt"/>
              </a:rPr>
              <a:t> je </a:t>
            </a:r>
            <a:r>
              <a:rPr lang="en-GB" sz="1800" err="1">
                <a:ea typeface="+mn-lt"/>
                <a:cs typeface="+mn-lt"/>
              </a:rPr>
              <a:t>broj</a:t>
            </a:r>
            <a:r>
              <a:rPr lang="en-GB" sz="1800" dirty="0">
                <a:ea typeface="+mn-lt"/>
                <a:cs typeface="+mn-lt"/>
              </a:rPr>
              <a:t> </a:t>
            </a:r>
            <a:r>
              <a:rPr lang="en-GB" sz="1800" err="1">
                <a:ea typeface="+mn-lt"/>
                <a:cs typeface="+mn-lt"/>
              </a:rPr>
              <a:t>čvorova</a:t>
            </a:r>
            <a:r>
              <a:rPr lang="en-GB" sz="1800" dirty="0">
                <a:ea typeface="+mn-lt"/>
                <a:cs typeface="+mn-lt"/>
              </a:rPr>
              <a:t> </a:t>
            </a:r>
            <a:r>
              <a:rPr lang="en-GB" sz="1800" err="1">
                <a:ea typeface="+mn-lt"/>
                <a:cs typeface="+mn-lt"/>
              </a:rPr>
              <a:t>paran</a:t>
            </a:r>
            <a:r>
              <a:rPr lang="en-GB" sz="1800" dirty="0">
                <a:ea typeface="+mn-lt"/>
                <a:cs typeface="+mn-lt"/>
              </a:rPr>
              <a:t>, χ′ = Δ = n - 1, a </a:t>
            </a:r>
            <a:r>
              <a:rPr lang="en-GB" sz="1800" err="1">
                <a:ea typeface="+mn-lt"/>
                <a:cs typeface="+mn-lt"/>
              </a:rPr>
              <a:t>ako</a:t>
            </a:r>
            <a:r>
              <a:rPr lang="en-GB" sz="1800" dirty="0">
                <a:ea typeface="+mn-lt"/>
                <a:cs typeface="+mn-lt"/>
              </a:rPr>
              <a:t> je </a:t>
            </a:r>
            <a:r>
              <a:rPr lang="en-GB" sz="1800" err="1">
                <a:ea typeface="+mn-lt"/>
                <a:cs typeface="+mn-lt"/>
              </a:rPr>
              <a:t>neparan</a:t>
            </a:r>
            <a:r>
              <a:rPr lang="en-GB" sz="1800" dirty="0">
                <a:ea typeface="+mn-lt"/>
                <a:cs typeface="+mn-lt"/>
              </a:rPr>
              <a:t> χ′ = Δ + 1 = n </a:t>
            </a:r>
            <a:endParaRPr lang="en-GB" sz="1800" dirty="0"/>
          </a:p>
          <a:p>
            <a:pPr marL="457200" lvl="1" indent="0">
              <a:buNone/>
            </a:pPr>
            <a:endParaRPr lang="en-GB" sz="1800" dirty="0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sz="1800" err="1">
                <a:ea typeface="+mn-lt"/>
                <a:cs typeface="+mn-lt"/>
              </a:rPr>
              <a:t>Bipartitivni</a:t>
            </a:r>
            <a:r>
              <a:rPr lang="en-GB" sz="1800" dirty="0">
                <a:ea typeface="+mn-lt"/>
                <a:cs typeface="+mn-lt"/>
              </a:rPr>
              <a:t> - </a:t>
            </a:r>
            <a:r>
              <a:rPr lang="en-GB" sz="1800" err="1">
                <a:ea typeface="+mn-lt"/>
                <a:cs typeface="+mn-lt"/>
              </a:rPr>
              <a:t>Čvorovi</a:t>
            </a:r>
            <a:r>
              <a:rPr lang="en-GB" sz="1800" dirty="0">
                <a:ea typeface="+mn-lt"/>
                <a:cs typeface="+mn-lt"/>
              </a:rPr>
              <a:t> </a:t>
            </a:r>
            <a:r>
              <a:rPr lang="en-GB" sz="1800" err="1">
                <a:ea typeface="+mn-lt"/>
                <a:cs typeface="+mn-lt"/>
              </a:rPr>
              <a:t>su</a:t>
            </a:r>
            <a:r>
              <a:rPr lang="en-GB" sz="1800" dirty="0">
                <a:ea typeface="+mn-lt"/>
                <a:cs typeface="+mn-lt"/>
              </a:rPr>
              <a:t> </a:t>
            </a:r>
            <a:r>
              <a:rPr lang="en-GB" sz="1800" err="1">
                <a:ea typeface="+mn-lt"/>
                <a:cs typeface="+mn-lt"/>
              </a:rPr>
              <a:t>podeljeni</a:t>
            </a:r>
            <a:r>
              <a:rPr lang="en-GB" sz="1800" dirty="0">
                <a:ea typeface="+mn-lt"/>
                <a:cs typeface="+mn-lt"/>
              </a:rPr>
              <a:t> u </a:t>
            </a:r>
            <a:r>
              <a:rPr lang="en-GB" sz="1800" err="1">
                <a:ea typeface="+mn-lt"/>
                <a:cs typeface="+mn-lt"/>
              </a:rPr>
              <a:t>dva</a:t>
            </a:r>
            <a:r>
              <a:rPr lang="en-GB" sz="1800" dirty="0">
                <a:ea typeface="+mn-lt"/>
                <a:cs typeface="+mn-lt"/>
              </a:rPr>
              <a:t> </a:t>
            </a:r>
            <a:r>
              <a:rPr lang="en-GB" sz="1800" err="1">
                <a:ea typeface="+mn-lt"/>
                <a:cs typeface="+mn-lt"/>
              </a:rPr>
              <a:t>skupa</a:t>
            </a:r>
            <a:r>
              <a:rPr lang="en-GB" sz="1800" dirty="0">
                <a:ea typeface="+mn-lt"/>
                <a:cs typeface="+mn-lt"/>
              </a:rPr>
              <a:t>, </a:t>
            </a:r>
            <a:r>
              <a:rPr lang="en-GB" sz="1800" err="1">
                <a:ea typeface="+mn-lt"/>
                <a:cs typeface="+mn-lt"/>
              </a:rPr>
              <a:t>nijedna</a:t>
            </a:r>
            <a:r>
              <a:rPr lang="en-GB" sz="1800" dirty="0">
                <a:ea typeface="+mn-lt"/>
                <a:cs typeface="+mn-lt"/>
              </a:rPr>
              <a:t> </a:t>
            </a:r>
            <a:r>
              <a:rPr lang="en-GB" sz="1800" err="1">
                <a:ea typeface="+mn-lt"/>
                <a:cs typeface="+mn-lt"/>
              </a:rPr>
              <a:t>ivica</a:t>
            </a:r>
            <a:r>
              <a:rPr lang="en-GB" sz="1800" dirty="0">
                <a:ea typeface="+mn-lt"/>
                <a:cs typeface="+mn-lt"/>
              </a:rPr>
              <a:t> ne </a:t>
            </a:r>
            <a:r>
              <a:rPr lang="en-GB" sz="1800" err="1">
                <a:ea typeface="+mn-lt"/>
                <a:cs typeface="+mn-lt"/>
              </a:rPr>
              <a:t>spaja</a:t>
            </a:r>
            <a:r>
              <a:rPr lang="en-GB" sz="1800" dirty="0">
                <a:ea typeface="+mn-lt"/>
                <a:cs typeface="+mn-lt"/>
              </a:rPr>
              <a:t> </a:t>
            </a:r>
            <a:r>
              <a:rPr lang="en-GB" sz="1800" err="1">
                <a:ea typeface="+mn-lt"/>
                <a:cs typeface="+mn-lt"/>
              </a:rPr>
              <a:t>dva</a:t>
            </a:r>
            <a:r>
              <a:rPr lang="en-GB" sz="1800" dirty="0">
                <a:ea typeface="+mn-lt"/>
                <a:cs typeface="+mn-lt"/>
              </a:rPr>
              <a:t> </a:t>
            </a:r>
            <a:r>
              <a:rPr lang="en-GB" sz="1800" err="1">
                <a:ea typeface="+mn-lt"/>
                <a:cs typeface="+mn-lt"/>
              </a:rPr>
              <a:t>čvora</a:t>
            </a:r>
            <a:r>
              <a:rPr lang="en-GB" sz="1800" dirty="0">
                <a:ea typeface="+mn-lt"/>
                <a:cs typeface="+mn-lt"/>
              </a:rPr>
              <a:t> </a:t>
            </a:r>
            <a:r>
              <a:rPr lang="en-GB" sz="1800" err="1">
                <a:ea typeface="+mn-lt"/>
                <a:cs typeface="+mn-lt"/>
              </a:rPr>
              <a:t>iz</a:t>
            </a:r>
            <a:r>
              <a:rPr lang="en-GB" sz="1800" dirty="0">
                <a:ea typeface="+mn-lt"/>
                <a:cs typeface="+mn-lt"/>
              </a:rPr>
              <a:t> </a:t>
            </a:r>
            <a:r>
              <a:rPr lang="en-GB" sz="1800" err="1">
                <a:ea typeface="+mn-lt"/>
                <a:cs typeface="+mn-lt"/>
              </a:rPr>
              <a:t>istog</a:t>
            </a:r>
            <a:r>
              <a:rPr lang="en-GB" sz="1800" dirty="0">
                <a:ea typeface="+mn-lt"/>
                <a:cs typeface="+mn-lt"/>
              </a:rPr>
              <a:t> </a:t>
            </a:r>
            <a:r>
              <a:rPr lang="en-GB" sz="1800" err="1">
                <a:ea typeface="+mn-lt"/>
                <a:cs typeface="+mn-lt"/>
              </a:rPr>
              <a:t>skupa</a:t>
            </a:r>
            <a:r>
              <a:rPr lang="en-GB" sz="1800" dirty="0">
                <a:ea typeface="+mn-lt"/>
                <a:cs typeface="+mn-lt"/>
              </a:rPr>
              <a:t>. </a:t>
            </a:r>
            <a:r>
              <a:rPr lang="en-GB" sz="1800" err="1">
                <a:ea typeface="+mn-lt"/>
                <a:cs typeface="+mn-lt"/>
              </a:rPr>
              <a:t>Broj</a:t>
            </a:r>
            <a:r>
              <a:rPr lang="en-GB" sz="1800" dirty="0">
                <a:ea typeface="+mn-lt"/>
                <a:cs typeface="+mn-lt"/>
              </a:rPr>
              <a:t> </a:t>
            </a:r>
            <a:r>
              <a:rPr lang="en-GB" sz="1800" err="1">
                <a:ea typeface="+mn-lt"/>
                <a:cs typeface="+mn-lt"/>
              </a:rPr>
              <a:t>boja</a:t>
            </a:r>
            <a:r>
              <a:rPr lang="en-GB" sz="1800" dirty="0">
                <a:ea typeface="+mn-lt"/>
                <a:cs typeface="+mn-lt"/>
              </a:rPr>
              <a:t> </a:t>
            </a:r>
            <a:r>
              <a:rPr lang="en-GB" sz="1800" err="1">
                <a:ea typeface="+mn-lt"/>
                <a:cs typeface="+mn-lt"/>
              </a:rPr>
              <a:t>ivica</a:t>
            </a:r>
            <a:r>
              <a:rPr lang="en-GB" sz="1800" dirty="0">
                <a:ea typeface="+mn-lt"/>
                <a:cs typeface="+mn-lt"/>
              </a:rPr>
              <a:t> mora </a:t>
            </a:r>
            <a:r>
              <a:rPr lang="en-GB" sz="1800" err="1">
                <a:ea typeface="+mn-lt"/>
                <a:cs typeface="+mn-lt"/>
              </a:rPr>
              <a:t>biti</a:t>
            </a:r>
            <a:r>
              <a:rPr lang="en-GB" sz="1800" dirty="0">
                <a:ea typeface="+mn-lt"/>
                <a:cs typeface="+mn-lt"/>
              </a:rPr>
              <a:t> Δ.</a:t>
            </a:r>
            <a:endParaRPr lang="en-GB" sz="1800" dirty="0"/>
          </a:p>
          <a:p>
            <a:pPr marL="457200" lvl="1" indent="0">
              <a:buNone/>
            </a:pPr>
            <a:endParaRPr lang="en-GB" sz="1800" dirty="0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sz="1800" dirty="0" err="1">
                <a:ea typeface="+mn-lt"/>
                <a:cs typeface="+mn-lt"/>
              </a:rPr>
              <a:t>Regularni</a:t>
            </a:r>
            <a:r>
              <a:rPr lang="en-GB" sz="1800" dirty="0">
                <a:ea typeface="+mn-lt"/>
                <a:cs typeface="+mn-lt"/>
              </a:rPr>
              <a:t> - </a:t>
            </a:r>
            <a:r>
              <a:rPr lang="en-GB" sz="1800" dirty="0" err="1">
                <a:ea typeface="+mn-lt"/>
                <a:cs typeface="+mn-lt"/>
              </a:rPr>
              <a:t>svaki</a:t>
            </a:r>
            <a:r>
              <a:rPr lang="en-GB" sz="1800" dirty="0">
                <a:ea typeface="+mn-lt"/>
                <a:cs typeface="+mn-lt"/>
              </a:rPr>
              <a:t> </a:t>
            </a:r>
            <a:r>
              <a:rPr lang="en-GB" sz="1800" dirty="0" err="1">
                <a:ea typeface="+mn-lt"/>
                <a:cs typeface="+mn-lt"/>
              </a:rPr>
              <a:t>čvor</a:t>
            </a:r>
            <a:r>
              <a:rPr lang="en-GB" sz="1800" dirty="0">
                <a:ea typeface="+mn-lt"/>
                <a:cs typeface="+mn-lt"/>
              </a:rPr>
              <a:t> </a:t>
            </a:r>
            <a:r>
              <a:rPr lang="en-GB" sz="1800" dirty="0" err="1">
                <a:ea typeface="+mn-lt"/>
                <a:cs typeface="+mn-lt"/>
              </a:rPr>
              <a:t>ima</a:t>
            </a:r>
            <a:r>
              <a:rPr lang="en-GB" sz="1800" dirty="0">
                <a:ea typeface="+mn-lt"/>
                <a:cs typeface="+mn-lt"/>
              </a:rPr>
              <a:t> </a:t>
            </a:r>
            <a:r>
              <a:rPr lang="en-GB" sz="1800" dirty="0" err="1">
                <a:ea typeface="+mn-lt"/>
                <a:cs typeface="+mn-lt"/>
              </a:rPr>
              <a:t>isti</a:t>
            </a:r>
            <a:r>
              <a:rPr lang="en-GB" sz="1800" dirty="0">
                <a:ea typeface="+mn-lt"/>
                <a:cs typeface="+mn-lt"/>
              </a:rPr>
              <a:t> </a:t>
            </a:r>
            <a:r>
              <a:rPr lang="en-GB" sz="1800" dirty="0" err="1">
                <a:ea typeface="+mn-lt"/>
                <a:cs typeface="+mn-lt"/>
              </a:rPr>
              <a:t>broj</a:t>
            </a:r>
            <a:r>
              <a:rPr lang="en-GB" sz="1800" dirty="0">
                <a:ea typeface="+mn-lt"/>
                <a:cs typeface="+mn-lt"/>
              </a:rPr>
              <a:t> </a:t>
            </a:r>
            <a:r>
              <a:rPr lang="en-GB" sz="1800" dirty="0" err="1">
                <a:ea typeface="+mn-lt"/>
                <a:cs typeface="+mn-lt"/>
              </a:rPr>
              <a:t>ivica</a:t>
            </a:r>
            <a:endParaRPr lang="en-GB" sz="1800" dirty="0" err="1"/>
          </a:p>
          <a:p>
            <a:pPr marL="457200" lvl="1" indent="0">
              <a:buNone/>
            </a:pPr>
            <a:endParaRPr lang="en-GB" sz="1800" dirty="0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sz="1800" dirty="0">
                <a:ea typeface="+mn-lt"/>
                <a:cs typeface="+mn-lt"/>
              </a:rPr>
              <a:t>SNARK -</a:t>
            </a:r>
            <a:r>
              <a:rPr lang="en-GB" sz="1800" err="1">
                <a:ea typeface="+mn-lt"/>
                <a:cs typeface="+mn-lt"/>
              </a:rPr>
              <a:t>grafovi</a:t>
            </a:r>
            <a:r>
              <a:rPr lang="en-GB" sz="1800" dirty="0">
                <a:ea typeface="+mn-lt"/>
                <a:cs typeface="+mn-lt"/>
              </a:rPr>
              <a:t> </a:t>
            </a:r>
            <a:r>
              <a:rPr lang="en-GB" sz="1800" err="1">
                <a:ea typeface="+mn-lt"/>
                <a:cs typeface="+mn-lt"/>
              </a:rPr>
              <a:t>malog</a:t>
            </a:r>
            <a:r>
              <a:rPr lang="en-GB" sz="1800" dirty="0">
                <a:ea typeface="+mn-lt"/>
                <a:cs typeface="+mn-lt"/>
              </a:rPr>
              <a:t> </a:t>
            </a:r>
            <a:r>
              <a:rPr lang="en-GB" sz="1800" err="1">
                <a:ea typeface="+mn-lt"/>
                <a:cs typeface="+mn-lt"/>
              </a:rPr>
              <a:t>stepena</a:t>
            </a:r>
            <a:r>
              <a:rPr lang="en-GB" sz="1800" dirty="0">
                <a:ea typeface="+mn-lt"/>
                <a:cs typeface="+mn-lt"/>
              </a:rPr>
              <a:t> </a:t>
            </a:r>
            <a:r>
              <a:rPr lang="en-GB" sz="1800" err="1">
                <a:ea typeface="+mn-lt"/>
                <a:cs typeface="+mn-lt"/>
              </a:rPr>
              <a:t>ali</a:t>
            </a:r>
            <a:r>
              <a:rPr lang="en-GB" sz="1800" dirty="0">
                <a:ea typeface="+mn-lt"/>
                <a:cs typeface="+mn-lt"/>
              </a:rPr>
              <a:t> ne </a:t>
            </a:r>
            <a:r>
              <a:rPr lang="en-GB" sz="1800" err="1">
                <a:ea typeface="+mn-lt"/>
                <a:cs typeface="+mn-lt"/>
              </a:rPr>
              <a:t>mogu</a:t>
            </a:r>
            <a:r>
              <a:rPr lang="en-GB" sz="1800" dirty="0">
                <a:ea typeface="+mn-lt"/>
                <a:cs typeface="+mn-lt"/>
              </a:rPr>
              <a:t> </a:t>
            </a:r>
            <a:r>
              <a:rPr lang="en-GB" sz="1800" err="1">
                <a:ea typeface="+mn-lt"/>
                <a:cs typeface="+mn-lt"/>
              </a:rPr>
              <a:t>biti</a:t>
            </a:r>
            <a:r>
              <a:rPr lang="en-GB" sz="1800" dirty="0">
                <a:ea typeface="+mn-lt"/>
                <a:cs typeface="+mn-lt"/>
              </a:rPr>
              <a:t> </a:t>
            </a:r>
            <a:r>
              <a:rPr lang="en-GB" sz="1800" err="1">
                <a:ea typeface="+mn-lt"/>
                <a:cs typeface="+mn-lt"/>
              </a:rPr>
              <a:t>obojeni</a:t>
            </a:r>
            <a:r>
              <a:rPr lang="en-GB" sz="1800" dirty="0">
                <a:ea typeface="+mn-lt"/>
                <a:cs typeface="+mn-lt"/>
              </a:rPr>
              <a:t> </a:t>
            </a:r>
            <a:r>
              <a:rPr lang="en-GB" sz="1800" err="1">
                <a:ea typeface="+mn-lt"/>
                <a:cs typeface="+mn-lt"/>
              </a:rPr>
              <a:t>sa</a:t>
            </a:r>
            <a:r>
              <a:rPr lang="en-GB" sz="1800" dirty="0">
                <a:ea typeface="+mn-lt"/>
                <a:cs typeface="+mn-lt"/>
              </a:rPr>
              <a:t> Δ </a:t>
            </a:r>
            <a:r>
              <a:rPr lang="en-GB" sz="1800" err="1">
                <a:ea typeface="+mn-lt"/>
                <a:cs typeface="+mn-lt"/>
              </a:rPr>
              <a:t>boja</a:t>
            </a:r>
            <a:r>
              <a:rPr lang="en-GB" sz="1800" dirty="0">
                <a:ea typeface="+mn-lt"/>
                <a:cs typeface="+mn-lt"/>
              </a:rPr>
              <a:t>.</a:t>
            </a:r>
            <a:endParaRPr lang="en-GB" sz="18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67AF1C-7DDB-AEBD-DA99-198D84144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93994-2A12-453A-98C4-8458D9946EDC}" type="datetime1">
              <a:t>2/7/2026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14ED7C-F5CF-8115-05C0-9BD322EF0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D10AC-ABE8-C8B8-6C8D-C441902D8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98671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6FA09-58E3-F1EB-4497-E1C8A6016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772"/>
            <a:ext cx="10240903" cy="1233488"/>
          </a:xfrm>
        </p:spPr>
        <p:txBody>
          <a:bodyPr/>
          <a:lstStyle/>
          <a:p>
            <a:r>
              <a:rPr lang="en-GB" dirty="0"/>
              <a:t>VNS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67AB57-50AB-AA9B-FB64-A6F5D87412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21324"/>
            <a:ext cx="10279979" cy="4649794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GB" dirty="0" err="1">
                <a:ea typeface="+mn-lt"/>
                <a:cs typeface="+mn-lt"/>
              </a:rPr>
              <a:t>Implementiran</a:t>
            </a:r>
            <a:r>
              <a:rPr lang="en-GB" dirty="0">
                <a:ea typeface="+mn-lt"/>
                <a:cs typeface="+mn-lt"/>
              </a:rPr>
              <a:t> je Variable Neighbourhood Search </a:t>
            </a:r>
            <a:r>
              <a:rPr lang="en-GB" dirty="0" err="1">
                <a:ea typeface="+mn-lt"/>
                <a:cs typeface="+mn-lt"/>
              </a:rPr>
              <a:t>sa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različitim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lokalnim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pretragama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i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shakingzima</a:t>
            </a:r>
            <a:r>
              <a:rPr lang="en-GB" dirty="0">
                <a:ea typeface="+mn-lt"/>
                <a:cs typeface="+mn-lt"/>
              </a:rPr>
              <a:t>.  </a:t>
            </a:r>
            <a:endParaRPr lang="en-GB" dirty="0"/>
          </a:p>
          <a:p>
            <a:r>
              <a:rPr lang="en-GB" dirty="0">
                <a:ea typeface="+mn-lt"/>
                <a:cs typeface="+mn-lt"/>
              </a:rPr>
              <a:t>Na </a:t>
            </a:r>
            <a:r>
              <a:rPr lang="en-GB" dirty="0" err="1">
                <a:ea typeface="+mn-lt"/>
                <a:cs typeface="+mn-lt"/>
              </a:rPr>
              <a:t>osnovu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Vizingove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teoreme</a:t>
            </a:r>
            <a:r>
              <a:rPr lang="en-GB" dirty="0">
                <a:ea typeface="+mn-lt"/>
                <a:cs typeface="+mn-lt"/>
              </a:rPr>
              <a:t> mi </a:t>
            </a:r>
            <a:r>
              <a:rPr lang="en-GB" dirty="0" err="1">
                <a:ea typeface="+mn-lt"/>
                <a:cs typeface="+mn-lt"/>
              </a:rPr>
              <a:t>već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znamo</a:t>
            </a:r>
            <a:r>
              <a:rPr lang="en-GB" dirty="0">
                <a:ea typeface="+mn-lt"/>
                <a:cs typeface="+mn-lt"/>
              </a:rPr>
              <a:t> da je minimum </a:t>
            </a:r>
            <a:r>
              <a:rPr lang="en-GB" dirty="0" err="1">
                <a:ea typeface="+mn-lt"/>
                <a:cs typeface="+mn-lt"/>
              </a:rPr>
              <a:t>jedan</a:t>
            </a:r>
            <a:r>
              <a:rPr lang="en-GB" dirty="0">
                <a:ea typeface="+mn-lt"/>
                <a:cs typeface="+mn-lt"/>
              </a:rPr>
              <a:t> od </a:t>
            </a:r>
            <a:r>
              <a:rPr lang="en-GB" dirty="0" err="1">
                <a:ea typeface="+mn-lt"/>
                <a:cs typeface="+mn-lt"/>
              </a:rPr>
              <a:t>dva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moguća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rešenja</a:t>
            </a:r>
            <a:r>
              <a:rPr lang="en-GB" dirty="0">
                <a:ea typeface="+mn-lt"/>
                <a:cs typeface="+mn-lt"/>
              </a:rPr>
              <a:t>, </a:t>
            </a:r>
            <a:r>
              <a:rPr lang="en-GB" dirty="0" err="1">
                <a:ea typeface="+mn-lt"/>
                <a:cs typeface="+mn-lt"/>
              </a:rPr>
              <a:t>zato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uzimamo</a:t>
            </a:r>
            <a:r>
              <a:rPr lang="en-GB" dirty="0">
                <a:ea typeface="+mn-lt"/>
                <a:cs typeface="+mn-lt"/>
              </a:rPr>
              <a:t> da je </a:t>
            </a:r>
            <a:r>
              <a:rPr lang="en-GB" dirty="0" err="1">
                <a:ea typeface="+mn-lt"/>
                <a:cs typeface="+mn-lt"/>
              </a:rPr>
              <a:t>funkcija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cilja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broj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konflikata</a:t>
            </a:r>
            <a:r>
              <a:rPr lang="en-GB" dirty="0">
                <a:ea typeface="+mn-lt"/>
                <a:cs typeface="+mn-lt"/>
              </a:rPr>
              <a:t> koji </a:t>
            </a:r>
            <a:r>
              <a:rPr lang="en-GB" dirty="0" err="1">
                <a:ea typeface="+mn-lt"/>
                <a:cs typeface="+mn-lt"/>
              </a:rPr>
              <a:t>treba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svesti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na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nulu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i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prethodno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staviti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inicijalno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rešenje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na</a:t>
            </a:r>
            <a:r>
              <a:rPr lang="en-GB" dirty="0">
                <a:ea typeface="+mn-lt"/>
                <a:cs typeface="+mn-lt"/>
              </a:rPr>
              <a:t> Δ </a:t>
            </a:r>
            <a:r>
              <a:rPr lang="en-GB" dirty="0" err="1">
                <a:ea typeface="+mn-lt"/>
                <a:cs typeface="+mn-lt"/>
              </a:rPr>
              <a:t>broj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boja</a:t>
            </a:r>
            <a:r>
              <a:rPr lang="en-GB" dirty="0">
                <a:ea typeface="+mn-lt"/>
                <a:cs typeface="+mn-lt"/>
              </a:rPr>
              <a:t>. </a:t>
            </a:r>
            <a:r>
              <a:rPr lang="en-GB" dirty="0" err="1">
                <a:ea typeface="+mn-lt"/>
                <a:cs typeface="+mn-lt"/>
              </a:rPr>
              <a:t>Ukoliko</a:t>
            </a:r>
            <a:r>
              <a:rPr lang="en-GB" dirty="0">
                <a:ea typeface="+mn-lt"/>
                <a:cs typeface="+mn-lt"/>
              </a:rPr>
              <a:t> ne </a:t>
            </a:r>
            <a:r>
              <a:rPr lang="en-GB" dirty="0" err="1">
                <a:ea typeface="+mn-lt"/>
                <a:cs typeface="+mn-lt"/>
              </a:rPr>
              <a:t>uspemo</a:t>
            </a:r>
            <a:r>
              <a:rPr lang="en-GB" dirty="0">
                <a:ea typeface="+mn-lt"/>
                <a:cs typeface="+mn-lt"/>
              </a:rPr>
              <a:t> da </a:t>
            </a:r>
            <a:r>
              <a:rPr lang="en-GB" dirty="0" err="1">
                <a:ea typeface="+mn-lt"/>
                <a:cs typeface="+mn-lt"/>
              </a:rPr>
              <a:t>dodjemo</a:t>
            </a:r>
            <a:r>
              <a:rPr lang="en-GB" dirty="0">
                <a:ea typeface="+mn-lt"/>
                <a:cs typeface="+mn-lt"/>
              </a:rPr>
              <a:t> do 0 </a:t>
            </a:r>
            <a:r>
              <a:rPr lang="en-GB" dirty="0" err="1">
                <a:ea typeface="+mn-lt"/>
                <a:cs typeface="+mn-lt"/>
              </a:rPr>
              <a:t>povećavamo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broj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boja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na</a:t>
            </a:r>
            <a:r>
              <a:rPr lang="en-GB" dirty="0">
                <a:ea typeface="+mn-lt"/>
                <a:cs typeface="+mn-lt"/>
              </a:rPr>
              <a:t> Δ + 1. </a:t>
            </a:r>
            <a:endParaRPr lang="en-GB" dirty="0"/>
          </a:p>
          <a:p>
            <a:r>
              <a:rPr lang="en-GB" err="1">
                <a:ea typeface="+mn-lt"/>
                <a:cs typeface="+mn-lt"/>
              </a:rPr>
              <a:t>Rešenje</a:t>
            </a:r>
            <a:r>
              <a:rPr lang="en-GB" dirty="0">
                <a:ea typeface="+mn-lt"/>
                <a:cs typeface="+mn-lt"/>
              </a:rPr>
              <a:t> se </a:t>
            </a:r>
            <a:r>
              <a:rPr lang="en-GB" err="1">
                <a:ea typeface="+mn-lt"/>
                <a:cs typeface="+mn-lt"/>
              </a:rPr>
              <a:t>čuva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kao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lista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boja</a:t>
            </a:r>
            <a:r>
              <a:rPr lang="en-GB" dirty="0">
                <a:ea typeface="+mn-lt"/>
                <a:cs typeface="+mn-lt"/>
              </a:rPr>
              <a:t>. </a:t>
            </a:r>
            <a:r>
              <a:rPr lang="en-GB" err="1">
                <a:ea typeface="+mn-lt"/>
                <a:cs typeface="+mn-lt"/>
              </a:rPr>
              <a:t>Prvobitno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rešenje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uzima</a:t>
            </a:r>
            <a:r>
              <a:rPr lang="en-GB" dirty="0">
                <a:ea typeface="+mn-lt"/>
                <a:cs typeface="+mn-lt"/>
              </a:rPr>
              <a:t> |E| </a:t>
            </a:r>
            <a:r>
              <a:rPr lang="en-GB" err="1">
                <a:ea typeface="+mn-lt"/>
                <a:cs typeface="+mn-lt"/>
              </a:rPr>
              <a:t>broj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boja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iz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opsega</a:t>
            </a:r>
            <a:r>
              <a:rPr lang="en-GB" dirty="0">
                <a:ea typeface="+mn-lt"/>
                <a:cs typeface="+mn-lt"/>
              </a:rPr>
              <a:t> [1, Δ] </a:t>
            </a:r>
            <a:r>
              <a:rPr lang="en-GB" err="1">
                <a:ea typeface="+mn-lt"/>
                <a:cs typeface="+mn-lt"/>
              </a:rPr>
              <a:t>slučajnim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izborom</a:t>
            </a:r>
            <a:r>
              <a:rPr lang="en-GB" dirty="0">
                <a:ea typeface="+mn-lt"/>
                <a:cs typeface="+mn-lt"/>
              </a:rPr>
              <a:t>.  </a:t>
            </a:r>
          </a:p>
          <a:p>
            <a:pPr marL="0" indent="0">
              <a:buNone/>
            </a:pPr>
            <a:endParaRPr lang="en-GB" dirty="0">
              <a:ea typeface="+mn-lt"/>
              <a:cs typeface="+mn-l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AE769-95E6-E89B-6740-394F3ABCF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5CB30-9244-44BD-B7EE-36640E3919A3}" type="datetime1">
              <a:t>2/7/2026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FFE16F-B31D-461E-6ECE-BB22413A3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34D7F-0122-B1F1-6E15-A59E2378D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675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ADA22-87EA-B811-CA5A-D95F410067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44054" y="507961"/>
            <a:ext cx="5034361" cy="5669002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GB" sz="1800" b="1" i="1" err="1"/>
              <a:t>Lokalne</a:t>
            </a:r>
            <a:r>
              <a:rPr lang="en-GB" sz="1800" b="1" i="1" dirty="0"/>
              <a:t> </a:t>
            </a:r>
            <a:r>
              <a:rPr lang="en-GB" sz="1800" b="1" i="1" err="1"/>
              <a:t>pretrage</a:t>
            </a:r>
            <a:r>
              <a:rPr lang="en-GB" sz="1800" dirty="0"/>
              <a:t>:</a:t>
            </a:r>
          </a:p>
          <a:p>
            <a:r>
              <a:rPr lang="en-GB" sz="1400" b="1" dirty="0">
                <a:ea typeface="+mn-lt"/>
                <a:cs typeface="+mn-lt"/>
              </a:rPr>
              <a:t>First improvement</a:t>
            </a:r>
            <a:r>
              <a:rPr lang="en-GB" sz="1400" dirty="0">
                <a:ea typeface="+mn-lt"/>
                <a:cs typeface="+mn-lt"/>
              </a:rPr>
              <a:t>  -Da ne bi </a:t>
            </a:r>
            <a:r>
              <a:rPr lang="en-GB" sz="1400" err="1">
                <a:ea typeface="+mn-lt"/>
                <a:cs typeface="+mn-lt"/>
              </a:rPr>
              <a:t>bilo</a:t>
            </a:r>
            <a:r>
              <a:rPr lang="en-GB" sz="1400" dirty="0">
                <a:ea typeface="+mn-lt"/>
                <a:cs typeface="+mn-lt"/>
              </a:rPr>
              <a:t> </a:t>
            </a:r>
            <a:r>
              <a:rPr lang="en-GB" sz="1400" err="1">
                <a:ea typeface="+mn-lt"/>
                <a:cs typeface="+mn-lt"/>
              </a:rPr>
              <a:t>pristrasnosti</a:t>
            </a:r>
            <a:r>
              <a:rPr lang="en-GB" sz="1400" dirty="0">
                <a:ea typeface="+mn-lt"/>
                <a:cs typeface="+mn-lt"/>
              </a:rPr>
              <a:t>, </a:t>
            </a:r>
            <a:r>
              <a:rPr lang="en-GB" sz="1400" err="1">
                <a:ea typeface="+mn-lt"/>
                <a:cs typeface="+mn-lt"/>
              </a:rPr>
              <a:t>indeksi</a:t>
            </a:r>
            <a:r>
              <a:rPr lang="en-GB" sz="1400" dirty="0">
                <a:ea typeface="+mn-lt"/>
                <a:cs typeface="+mn-lt"/>
              </a:rPr>
              <a:t> </a:t>
            </a:r>
            <a:r>
              <a:rPr lang="en-GB" sz="1400" err="1">
                <a:ea typeface="+mn-lt"/>
                <a:cs typeface="+mn-lt"/>
              </a:rPr>
              <a:t>rešenja</a:t>
            </a:r>
            <a:r>
              <a:rPr lang="en-GB" sz="1400" dirty="0">
                <a:ea typeface="+mn-lt"/>
                <a:cs typeface="+mn-lt"/>
              </a:rPr>
              <a:t> se “</a:t>
            </a:r>
            <a:r>
              <a:rPr lang="en-GB" sz="1400" err="1">
                <a:ea typeface="+mn-lt"/>
                <a:cs typeface="+mn-lt"/>
              </a:rPr>
              <a:t>mešaju</a:t>
            </a:r>
            <a:r>
              <a:rPr lang="en-GB" sz="1400" dirty="0">
                <a:ea typeface="+mn-lt"/>
                <a:cs typeface="+mn-lt"/>
              </a:rPr>
              <a:t>”. Za </a:t>
            </a:r>
            <a:r>
              <a:rPr lang="en-GB" sz="1400" err="1">
                <a:ea typeface="+mn-lt"/>
                <a:cs typeface="+mn-lt"/>
              </a:rPr>
              <a:t>svaki</a:t>
            </a:r>
            <a:r>
              <a:rPr lang="en-GB" sz="1400" dirty="0">
                <a:ea typeface="+mn-lt"/>
                <a:cs typeface="+mn-lt"/>
              </a:rPr>
              <a:t> </a:t>
            </a:r>
            <a:r>
              <a:rPr lang="en-GB" sz="1400" err="1">
                <a:ea typeface="+mn-lt"/>
                <a:cs typeface="+mn-lt"/>
              </a:rPr>
              <a:t>indeks</a:t>
            </a:r>
            <a:r>
              <a:rPr lang="en-GB" sz="1400" dirty="0">
                <a:ea typeface="+mn-lt"/>
                <a:cs typeface="+mn-lt"/>
              </a:rPr>
              <a:t> se </a:t>
            </a:r>
            <a:r>
              <a:rPr lang="en-GB" sz="1400" err="1">
                <a:ea typeface="+mn-lt"/>
                <a:cs typeface="+mn-lt"/>
              </a:rPr>
              <a:t>prolazi</a:t>
            </a:r>
            <a:r>
              <a:rPr lang="en-GB" sz="1400" dirty="0">
                <a:ea typeface="+mn-lt"/>
                <a:cs typeface="+mn-lt"/>
              </a:rPr>
              <a:t> </a:t>
            </a:r>
            <a:r>
              <a:rPr lang="en-GB" sz="1400" err="1">
                <a:ea typeface="+mn-lt"/>
                <a:cs typeface="+mn-lt"/>
              </a:rPr>
              <a:t>kroz</a:t>
            </a:r>
            <a:r>
              <a:rPr lang="en-GB" sz="1400" dirty="0">
                <a:ea typeface="+mn-lt"/>
                <a:cs typeface="+mn-lt"/>
              </a:rPr>
              <a:t> </a:t>
            </a:r>
            <a:r>
              <a:rPr lang="en-GB" sz="1400" err="1">
                <a:ea typeface="+mn-lt"/>
                <a:cs typeface="+mn-lt"/>
              </a:rPr>
              <a:t>sve</a:t>
            </a:r>
            <a:r>
              <a:rPr lang="en-GB" sz="1400" dirty="0">
                <a:ea typeface="+mn-lt"/>
                <a:cs typeface="+mn-lt"/>
              </a:rPr>
              <a:t> </a:t>
            </a:r>
            <a:r>
              <a:rPr lang="en-GB" sz="1400" err="1">
                <a:ea typeface="+mn-lt"/>
                <a:cs typeface="+mn-lt"/>
              </a:rPr>
              <a:t>boje</a:t>
            </a:r>
            <a:r>
              <a:rPr lang="en-GB" sz="1400" dirty="0">
                <a:ea typeface="+mn-lt"/>
                <a:cs typeface="+mn-lt"/>
              </a:rPr>
              <a:t>, </a:t>
            </a:r>
            <a:r>
              <a:rPr lang="en-GB" sz="1400" err="1">
                <a:ea typeface="+mn-lt"/>
                <a:cs typeface="+mn-lt"/>
              </a:rPr>
              <a:t>ista</a:t>
            </a:r>
            <a:r>
              <a:rPr lang="en-GB" sz="1400" dirty="0">
                <a:ea typeface="+mn-lt"/>
                <a:cs typeface="+mn-lt"/>
              </a:rPr>
              <a:t> se </a:t>
            </a:r>
            <a:r>
              <a:rPr lang="en-GB" sz="1400" err="1">
                <a:ea typeface="+mn-lt"/>
                <a:cs typeface="+mn-lt"/>
              </a:rPr>
              <a:t>preskače</a:t>
            </a:r>
            <a:r>
              <a:rPr lang="en-GB" sz="1400" dirty="0">
                <a:ea typeface="+mn-lt"/>
                <a:cs typeface="+mn-lt"/>
              </a:rPr>
              <a:t>. </a:t>
            </a:r>
            <a:r>
              <a:rPr lang="en-GB" sz="1400" err="1">
                <a:ea typeface="+mn-lt"/>
                <a:cs typeface="+mn-lt"/>
              </a:rPr>
              <a:t>Ukoliko</a:t>
            </a:r>
            <a:r>
              <a:rPr lang="en-GB" sz="1400" dirty="0">
                <a:ea typeface="+mn-lt"/>
                <a:cs typeface="+mn-lt"/>
              </a:rPr>
              <a:t> je </a:t>
            </a:r>
            <a:r>
              <a:rPr lang="en-GB" sz="1400" err="1">
                <a:ea typeface="+mn-lt"/>
                <a:cs typeface="+mn-lt"/>
              </a:rPr>
              <a:t>sa</a:t>
            </a:r>
            <a:r>
              <a:rPr lang="en-GB" sz="1400" dirty="0">
                <a:ea typeface="+mn-lt"/>
                <a:cs typeface="+mn-lt"/>
              </a:rPr>
              <a:t> </a:t>
            </a:r>
            <a:r>
              <a:rPr lang="en-GB" sz="1400" err="1">
                <a:ea typeface="+mn-lt"/>
                <a:cs typeface="+mn-lt"/>
              </a:rPr>
              <a:t>novom</a:t>
            </a:r>
            <a:r>
              <a:rPr lang="en-GB" sz="1400" dirty="0">
                <a:ea typeface="+mn-lt"/>
                <a:cs typeface="+mn-lt"/>
              </a:rPr>
              <a:t> </a:t>
            </a:r>
            <a:r>
              <a:rPr lang="en-GB" sz="1400" err="1">
                <a:ea typeface="+mn-lt"/>
                <a:cs typeface="+mn-lt"/>
              </a:rPr>
              <a:t>bojom</a:t>
            </a:r>
            <a:r>
              <a:rPr lang="en-GB" sz="1400" dirty="0">
                <a:ea typeface="+mn-lt"/>
                <a:cs typeface="+mn-lt"/>
              </a:rPr>
              <a:t> fitness </a:t>
            </a:r>
            <a:r>
              <a:rPr lang="en-GB" sz="1400" err="1">
                <a:ea typeface="+mn-lt"/>
                <a:cs typeface="+mn-lt"/>
              </a:rPr>
              <a:t>manji</a:t>
            </a:r>
            <a:r>
              <a:rPr lang="en-GB" sz="1400" dirty="0">
                <a:ea typeface="+mn-lt"/>
                <a:cs typeface="+mn-lt"/>
              </a:rPr>
              <a:t>, </a:t>
            </a:r>
            <a:r>
              <a:rPr lang="en-GB" sz="1400" err="1">
                <a:ea typeface="+mn-lt"/>
                <a:cs typeface="+mn-lt"/>
              </a:rPr>
              <a:t>prekidamo</a:t>
            </a:r>
            <a:r>
              <a:rPr lang="en-GB" sz="1400" dirty="0">
                <a:ea typeface="+mn-lt"/>
                <a:cs typeface="+mn-lt"/>
              </a:rPr>
              <a:t> </a:t>
            </a:r>
            <a:r>
              <a:rPr lang="en-GB" sz="1400" err="1">
                <a:ea typeface="+mn-lt"/>
                <a:cs typeface="+mn-lt"/>
              </a:rPr>
              <a:t>pretragu</a:t>
            </a:r>
            <a:r>
              <a:rPr lang="en-GB" sz="1400" dirty="0">
                <a:ea typeface="+mn-lt"/>
                <a:cs typeface="+mn-lt"/>
              </a:rPr>
              <a:t>. </a:t>
            </a:r>
            <a:r>
              <a:rPr lang="en-GB" sz="1400" err="1">
                <a:ea typeface="+mn-lt"/>
                <a:cs typeface="+mn-lt"/>
              </a:rPr>
              <a:t>Ukoliko</a:t>
            </a:r>
            <a:r>
              <a:rPr lang="en-GB" sz="1400" dirty="0">
                <a:ea typeface="+mn-lt"/>
                <a:cs typeface="+mn-lt"/>
              </a:rPr>
              <a:t> ne, </a:t>
            </a:r>
            <a:r>
              <a:rPr lang="en-GB" sz="1400" err="1">
                <a:ea typeface="+mn-lt"/>
                <a:cs typeface="+mn-lt"/>
              </a:rPr>
              <a:t>vraćamo</a:t>
            </a:r>
            <a:r>
              <a:rPr lang="en-GB" sz="1400" dirty="0">
                <a:ea typeface="+mn-lt"/>
                <a:cs typeface="+mn-lt"/>
              </a:rPr>
              <a:t> </a:t>
            </a:r>
            <a:r>
              <a:rPr lang="en-GB" sz="1400" err="1">
                <a:ea typeface="+mn-lt"/>
                <a:cs typeface="+mn-lt"/>
              </a:rPr>
              <a:t>na</a:t>
            </a:r>
            <a:r>
              <a:rPr lang="en-GB" sz="1400" dirty="0">
                <a:ea typeface="+mn-lt"/>
                <a:cs typeface="+mn-lt"/>
              </a:rPr>
              <a:t> </a:t>
            </a:r>
            <a:r>
              <a:rPr lang="en-GB" sz="1400" err="1">
                <a:ea typeface="+mn-lt"/>
                <a:cs typeface="+mn-lt"/>
              </a:rPr>
              <a:t>staru</a:t>
            </a:r>
            <a:r>
              <a:rPr lang="en-GB" sz="1400" dirty="0">
                <a:ea typeface="+mn-lt"/>
                <a:cs typeface="+mn-lt"/>
              </a:rPr>
              <a:t> </a:t>
            </a:r>
            <a:r>
              <a:rPr lang="en-GB" sz="1400" err="1">
                <a:ea typeface="+mn-lt"/>
                <a:cs typeface="+mn-lt"/>
              </a:rPr>
              <a:t>boju</a:t>
            </a:r>
            <a:r>
              <a:rPr lang="en-GB" sz="1400" dirty="0">
                <a:ea typeface="+mn-lt"/>
                <a:cs typeface="+mn-lt"/>
              </a:rPr>
              <a:t>.  </a:t>
            </a:r>
            <a:endParaRPr lang="en-GB" sz="1400" dirty="0"/>
          </a:p>
          <a:p>
            <a:r>
              <a:rPr lang="en-GB" sz="1400" b="1" dirty="0">
                <a:ea typeface="+mn-lt"/>
                <a:cs typeface="+mn-lt"/>
              </a:rPr>
              <a:t>Best improvement</a:t>
            </a:r>
            <a:r>
              <a:rPr lang="en-GB" sz="1400" dirty="0">
                <a:ea typeface="+mn-lt"/>
                <a:cs typeface="+mn-lt"/>
              </a:rPr>
              <a:t>  -Za </a:t>
            </a:r>
            <a:r>
              <a:rPr lang="en-GB" sz="1400" err="1">
                <a:ea typeface="+mn-lt"/>
                <a:cs typeface="+mn-lt"/>
              </a:rPr>
              <a:t>svaki</a:t>
            </a:r>
            <a:r>
              <a:rPr lang="en-GB" sz="1400" dirty="0">
                <a:ea typeface="+mn-lt"/>
                <a:cs typeface="+mn-lt"/>
              </a:rPr>
              <a:t> </a:t>
            </a:r>
            <a:r>
              <a:rPr lang="en-GB" sz="1400" err="1">
                <a:ea typeface="+mn-lt"/>
                <a:cs typeface="+mn-lt"/>
              </a:rPr>
              <a:t>indeks</a:t>
            </a:r>
            <a:r>
              <a:rPr lang="en-GB" sz="1400" dirty="0">
                <a:ea typeface="+mn-lt"/>
                <a:cs typeface="+mn-lt"/>
              </a:rPr>
              <a:t> </a:t>
            </a:r>
            <a:r>
              <a:rPr lang="en-GB" sz="1400" err="1">
                <a:ea typeface="+mn-lt"/>
                <a:cs typeface="+mn-lt"/>
              </a:rPr>
              <a:t>rešenja</a:t>
            </a:r>
            <a:r>
              <a:rPr lang="en-GB" sz="1400" dirty="0">
                <a:ea typeface="+mn-lt"/>
                <a:cs typeface="+mn-lt"/>
              </a:rPr>
              <a:t>, </a:t>
            </a:r>
            <a:r>
              <a:rPr lang="en-GB" sz="1400" err="1">
                <a:ea typeface="+mn-lt"/>
                <a:cs typeface="+mn-lt"/>
              </a:rPr>
              <a:t>prolazi</a:t>
            </a:r>
            <a:r>
              <a:rPr lang="en-GB" sz="1400" dirty="0">
                <a:ea typeface="+mn-lt"/>
                <a:cs typeface="+mn-lt"/>
              </a:rPr>
              <a:t> se </a:t>
            </a:r>
            <a:r>
              <a:rPr lang="en-GB" sz="1400" err="1">
                <a:ea typeface="+mn-lt"/>
                <a:cs typeface="+mn-lt"/>
              </a:rPr>
              <a:t>kroz</a:t>
            </a:r>
            <a:r>
              <a:rPr lang="en-GB" sz="1400" dirty="0">
                <a:ea typeface="+mn-lt"/>
                <a:cs typeface="+mn-lt"/>
              </a:rPr>
              <a:t> </a:t>
            </a:r>
            <a:r>
              <a:rPr lang="en-GB" sz="1400" err="1">
                <a:ea typeface="+mn-lt"/>
                <a:cs typeface="+mn-lt"/>
              </a:rPr>
              <a:t>sve</a:t>
            </a:r>
            <a:r>
              <a:rPr lang="en-GB" sz="1400" dirty="0">
                <a:ea typeface="+mn-lt"/>
                <a:cs typeface="+mn-lt"/>
              </a:rPr>
              <a:t> </a:t>
            </a:r>
            <a:r>
              <a:rPr lang="en-GB" sz="1400" err="1">
                <a:ea typeface="+mn-lt"/>
                <a:cs typeface="+mn-lt"/>
              </a:rPr>
              <a:t>boje</a:t>
            </a:r>
            <a:r>
              <a:rPr lang="en-GB" sz="1400" dirty="0">
                <a:ea typeface="+mn-lt"/>
                <a:cs typeface="+mn-lt"/>
              </a:rPr>
              <a:t> </a:t>
            </a:r>
            <a:r>
              <a:rPr lang="en-GB" sz="1400" err="1">
                <a:ea typeface="+mn-lt"/>
                <a:cs typeface="+mn-lt"/>
              </a:rPr>
              <a:t>i</a:t>
            </a:r>
            <a:r>
              <a:rPr lang="en-GB" sz="1400" dirty="0">
                <a:ea typeface="+mn-lt"/>
                <a:cs typeface="+mn-lt"/>
              </a:rPr>
              <a:t> </a:t>
            </a:r>
            <a:r>
              <a:rPr lang="en-GB" sz="1400" err="1">
                <a:ea typeface="+mn-lt"/>
                <a:cs typeface="+mn-lt"/>
              </a:rPr>
              <a:t>pamti</a:t>
            </a:r>
            <a:r>
              <a:rPr lang="en-GB" sz="1400" dirty="0">
                <a:ea typeface="+mn-lt"/>
                <a:cs typeface="+mn-lt"/>
              </a:rPr>
              <a:t> se </a:t>
            </a:r>
            <a:r>
              <a:rPr lang="en-GB" sz="1400" err="1">
                <a:ea typeface="+mn-lt"/>
                <a:cs typeface="+mn-lt"/>
              </a:rPr>
              <a:t>najbolji</a:t>
            </a:r>
            <a:r>
              <a:rPr lang="en-GB" sz="1400" dirty="0">
                <a:ea typeface="+mn-lt"/>
                <a:cs typeface="+mn-lt"/>
              </a:rPr>
              <a:t> </a:t>
            </a:r>
            <a:r>
              <a:rPr lang="en-GB" sz="1400" err="1">
                <a:ea typeface="+mn-lt"/>
                <a:cs typeface="+mn-lt"/>
              </a:rPr>
              <a:t>fintess</a:t>
            </a:r>
            <a:r>
              <a:rPr lang="en-GB" sz="1400" dirty="0">
                <a:ea typeface="+mn-lt"/>
                <a:cs typeface="+mn-lt"/>
              </a:rPr>
              <a:t>  </a:t>
            </a:r>
            <a:r>
              <a:rPr lang="en-GB" sz="1400" err="1">
                <a:ea typeface="+mn-lt"/>
                <a:cs typeface="+mn-lt"/>
              </a:rPr>
              <a:t>kao</a:t>
            </a:r>
            <a:r>
              <a:rPr lang="en-GB" sz="1400" dirty="0">
                <a:ea typeface="+mn-lt"/>
                <a:cs typeface="+mn-lt"/>
              </a:rPr>
              <a:t> </a:t>
            </a:r>
            <a:r>
              <a:rPr lang="en-GB" sz="1400" err="1">
                <a:ea typeface="+mn-lt"/>
                <a:cs typeface="+mn-lt"/>
              </a:rPr>
              <a:t>i</a:t>
            </a:r>
            <a:r>
              <a:rPr lang="en-GB" sz="1400" dirty="0">
                <a:ea typeface="+mn-lt"/>
                <a:cs typeface="+mn-lt"/>
              </a:rPr>
              <a:t> </a:t>
            </a:r>
            <a:r>
              <a:rPr lang="en-GB" sz="1400" err="1">
                <a:ea typeface="+mn-lt"/>
                <a:cs typeface="+mn-lt"/>
              </a:rPr>
              <a:t>indeks</a:t>
            </a:r>
            <a:r>
              <a:rPr lang="en-GB" sz="1400" dirty="0">
                <a:ea typeface="+mn-lt"/>
                <a:cs typeface="+mn-lt"/>
              </a:rPr>
              <a:t> </a:t>
            </a:r>
            <a:r>
              <a:rPr lang="en-GB" sz="1400" err="1">
                <a:ea typeface="+mn-lt"/>
                <a:cs typeface="+mn-lt"/>
              </a:rPr>
              <a:t>sa</a:t>
            </a:r>
            <a:r>
              <a:rPr lang="en-GB" sz="1400" dirty="0">
                <a:ea typeface="+mn-lt"/>
                <a:cs typeface="+mn-lt"/>
              </a:rPr>
              <a:t> </a:t>
            </a:r>
            <a:r>
              <a:rPr lang="en-GB" sz="1400" err="1">
                <a:ea typeface="+mn-lt"/>
                <a:cs typeface="+mn-lt"/>
              </a:rPr>
              <a:t>najboljom</a:t>
            </a:r>
            <a:r>
              <a:rPr lang="en-GB" sz="1400" dirty="0">
                <a:ea typeface="+mn-lt"/>
                <a:cs typeface="+mn-lt"/>
              </a:rPr>
              <a:t> </a:t>
            </a:r>
            <a:r>
              <a:rPr lang="en-GB" sz="1400" err="1">
                <a:ea typeface="+mn-lt"/>
                <a:cs typeface="+mn-lt"/>
              </a:rPr>
              <a:t>novom</a:t>
            </a:r>
            <a:r>
              <a:rPr lang="en-GB" sz="1400" dirty="0">
                <a:ea typeface="+mn-lt"/>
                <a:cs typeface="+mn-lt"/>
              </a:rPr>
              <a:t> </a:t>
            </a:r>
            <a:r>
              <a:rPr lang="en-GB" sz="1400" err="1">
                <a:ea typeface="+mn-lt"/>
                <a:cs typeface="+mn-lt"/>
              </a:rPr>
              <a:t>bojom</a:t>
            </a:r>
            <a:r>
              <a:rPr lang="en-GB" sz="1400" dirty="0">
                <a:ea typeface="+mn-lt"/>
                <a:cs typeface="+mn-lt"/>
              </a:rPr>
              <a:t>. </a:t>
            </a:r>
            <a:r>
              <a:rPr lang="en-GB" sz="1400" err="1">
                <a:ea typeface="+mn-lt"/>
                <a:cs typeface="+mn-lt"/>
              </a:rPr>
              <a:t>Nakon</a:t>
            </a:r>
            <a:r>
              <a:rPr lang="en-GB" sz="1400" dirty="0">
                <a:ea typeface="+mn-lt"/>
                <a:cs typeface="+mn-lt"/>
              </a:rPr>
              <a:t> </a:t>
            </a:r>
            <a:r>
              <a:rPr lang="en-GB" sz="1400" err="1">
                <a:ea typeface="+mn-lt"/>
                <a:cs typeface="+mn-lt"/>
              </a:rPr>
              <a:t>svake</a:t>
            </a:r>
            <a:r>
              <a:rPr lang="en-GB" sz="1400" dirty="0">
                <a:ea typeface="+mn-lt"/>
                <a:cs typeface="+mn-lt"/>
              </a:rPr>
              <a:t> </a:t>
            </a:r>
            <a:r>
              <a:rPr lang="en-GB" sz="1400" err="1">
                <a:ea typeface="+mn-lt"/>
                <a:cs typeface="+mn-lt"/>
              </a:rPr>
              <a:t>provere</a:t>
            </a:r>
            <a:r>
              <a:rPr lang="en-GB" sz="1400" dirty="0">
                <a:ea typeface="+mn-lt"/>
                <a:cs typeface="+mn-lt"/>
              </a:rPr>
              <a:t> </a:t>
            </a:r>
            <a:r>
              <a:rPr lang="en-GB" sz="1400" err="1">
                <a:ea typeface="+mn-lt"/>
                <a:cs typeface="+mn-lt"/>
              </a:rPr>
              <a:t>vraćamo</a:t>
            </a:r>
            <a:r>
              <a:rPr lang="en-GB" sz="1400" dirty="0">
                <a:ea typeface="+mn-lt"/>
                <a:cs typeface="+mn-lt"/>
              </a:rPr>
              <a:t> se </a:t>
            </a:r>
            <a:r>
              <a:rPr lang="en-GB" sz="1400" err="1">
                <a:ea typeface="+mn-lt"/>
                <a:cs typeface="+mn-lt"/>
              </a:rPr>
              <a:t>na</a:t>
            </a:r>
            <a:r>
              <a:rPr lang="en-GB" sz="1400" dirty="0">
                <a:ea typeface="+mn-lt"/>
                <a:cs typeface="+mn-lt"/>
              </a:rPr>
              <a:t> </a:t>
            </a:r>
            <a:r>
              <a:rPr lang="en-GB" sz="1400" err="1">
                <a:ea typeface="+mn-lt"/>
                <a:cs typeface="+mn-lt"/>
              </a:rPr>
              <a:t>staru</a:t>
            </a:r>
            <a:r>
              <a:rPr lang="en-GB" sz="1400" dirty="0">
                <a:ea typeface="+mn-lt"/>
                <a:cs typeface="+mn-lt"/>
              </a:rPr>
              <a:t> </a:t>
            </a:r>
            <a:r>
              <a:rPr lang="en-GB" sz="1400" err="1">
                <a:ea typeface="+mn-lt"/>
                <a:cs typeface="+mn-lt"/>
              </a:rPr>
              <a:t>boju</a:t>
            </a:r>
            <a:r>
              <a:rPr lang="en-GB" sz="1400" dirty="0">
                <a:ea typeface="+mn-lt"/>
                <a:cs typeface="+mn-lt"/>
              </a:rPr>
              <a:t>. </a:t>
            </a:r>
            <a:r>
              <a:rPr lang="en-GB" sz="1400" err="1">
                <a:ea typeface="+mn-lt"/>
                <a:cs typeface="+mn-lt"/>
              </a:rPr>
              <a:t>Ukoliko</a:t>
            </a:r>
            <a:r>
              <a:rPr lang="en-GB" sz="1400" dirty="0">
                <a:ea typeface="+mn-lt"/>
                <a:cs typeface="+mn-lt"/>
              </a:rPr>
              <a:t> </a:t>
            </a:r>
            <a:r>
              <a:rPr lang="en-GB" sz="1400" err="1">
                <a:ea typeface="+mn-lt"/>
                <a:cs typeface="+mn-lt"/>
              </a:rPr>
              <a:t>smo</a:t>
            </a:r>
            <a:r>
              <a:rPr lang="en-GB" sz="1400" dirty="0">
                <a:ea typeface="+mn-lt"/>
                <a:cs typeface="+mn-lt"/>
              </a:rPr>
              <a:t> </a:t>
            </a:r>
            <a:r>
              <a:rPr lang="en-GB" sz="1400" err="1">
                <a:ea typeface="+mn-lt"/>
                <a:cs typeface="+mn-lt"/>
              </a:rPr>
              <a:t>našli</a:t>
            </a:r>
            <a:r>
              <a:rPr lang="en-GB" sz="1400" dirty="0">
                <a:ea typeface="+mn-lt"/>
                <a:cs typeface="+mn-lt"/>
              </a:rPr>
              <a:t> </a:t>
            </a:r>
            <a:r>
              <a:rPr lang="en-GB" sz="1400" err="1">
                <a:ea typeface="+mn-lt"/>
                <a:cs typeface="+mn-lt"/>
              </a:rPr>
              <a:t>bolje</a:t>
            </a:r>
            <a:r>
              <a:rPr lang="en-GB" sz="1400" dirty="0">
                <a:ea typeface="+mn-lt"/>
                <a:cs typeface="+mn-lt"/>
              </a:rPr>
              <a:t> </a:t>
            </a:r>
            <a:r>
              <a:rPr lang="en-GB" sz="1400" err="1">
                <a:ea typeface="+mn-lt"/>
                <a:cs typeface="+mn-lt"/>
              </a:rPr>
              <a:t>rešenje</a:t>
            </a:r>
            <a:r>
              <a:rPr lang="en-GB" sz="1400" dirty="0">
                <a:ea typeface="+mn-lt"/>
                <a:cs typeface="+mn-lt"/>
              </a:rPr>
              <a:t>, </a:t>
            </a:r>
            <a:r>
              <a:rPr lang="en-GB" sz="1400" err="1">
                <a:ea typeface="+mn-lt"/>
                <a:cs typeface="+mn-lt"/>
              </a:rPr>
              <a:t>na</a:t>
            </a:r>
            <a:r>
              <a:rPr lang="en-GB" sz="1400" dirty="0">
                <a:ea typeface="+mn-lt"/>
                <a:cs typeface="+mn-lt"/>
              </a:rPr>
              <a:t> </a:t>
            </a:r>
            <a:r>
              <a:rPr lang="en-GB" sz="1400" err="1">
                <a:ea typeface="+mn-lt"/>
                <a:cs typeface="+mn-lt"/>
              </a:rPr>
              <a:t>zapamćeno</a:t>
            </a:r>
            <a:r>
              <a:rPr lang="en-GB" sz="1400" dirty="0">
                <a:ea typeface="+mn-lt"/>
                <a:cs typeface="+mn-lt"/>
              </a:rPr>
              <a:t> mesto </a:t>
            </a:r>
            <a:r>
              <a:rPr lang="en-GB" sz="1400" err="1">
                <a:ea typeface="+mn-lt"/>
                <a:cs typeface="+mn-lt"/>
              </a:rPr>
              <a:t>stavljamo</a:t>
            </a:r>
            <a:r>
              <a:rPr lang="en-GB" sz="1400" dirty="0">
                <a:ea typeface="+mn-lt"/>
                <a:cs typeface="+mn-lt"/>
              </a:rPr>
              <a:t> </a:t>
            </a:r>
            <a:r>
              <a:rPr lang="en-GB" sz="1400" err="1">
                <a:ea typeface="+mn-lt"/>
                <a:cs typeface="+mn-lt"/>
              </a:rPr>
              <a:t>zapamćenu</a:t>
            </a:r>
            <a:r>
              <a:rPr lang="en-GB" sz="1400" dirty="0">
                <a:ea typeface="+mn-lt"/>
                <a:cs typeface="+mn-lt"/>
              </a:rPr>
              <a:t> </a:t>
            </a:r>
            <a:r>
              <a:rPr lang="en-GB" sz="1400" err="1">
                <a:ea typeface="+mn-lt"/>
                <a:cs typeface="+mn-lt"/>
              </a:rPr>
              <a:t>boju</a:t>
            </a:r>
            <a:r>
              <a:rPr lang="en-GB" sz="1400" dirty="0">
                <a:ea typeface="+mn-lt"/>
                <a:cs typeface="+mn-lt"/>
              </a:rPr>
              <a:t>. </a:t>
            </a:r>
            <a:endParaRPr lang="en-GB" sz="1400"/>
          </a:p>
          <a:p>
            <a:r>
              <a:rPr lang="en-GB" sz="1400" b="1" dirty="0">
                <a:ea typeface="+mn-lt"/>
                <a:cs typeface="+mn-lt"/>
              </a:rPr>
              <a:t>Tabu search</a:t>
            </a:r>
            <a:r>
              <a:rPr lang="en-GB" sz="1400" dirty="0">
                <a:ea typeface="+mn-lt"/>
                <a:cs typeface="+mn-lt"/>
              </a:rPr>
              <a:t> -</a:t>
            </a:r>
            <a:r>
              <a:rPr lang="en-GB" sz="1400" err="1">
                <a:ea typeface="+mn-lt"/>
                <a:cs typeface="+mn-lt"/>
              </a:rPr>
              <a:t>Čuvamo</a:t>
            </a:r>
            <a:r>
              <a:rPr lang="en-GB" sz="1400" dirty="0">
                <a:ea typeface="+mn-lt"/>
                <a:cs typeface="+mn-lt"/>
              </a:rPr>
              <a:t> </a:t>
            </a:r>
            <a:r>
              <a:rPr lang="en-GB" sz="1400" err="1">
                <a:ea typeface="+mn-lt"/>
                <a:cs typeface="+mn-lt"/>
              </a:rPr>
              <a:t>rečnik</a:t>
            </a:r>
            <a:r>
              <a:rPr lang="en-GB" sz="1400" dirty="0">
                <a:ea typeface="+mn-lt"/>
                <a:cs typeface="+mn-lt"/>
              </a:rPr>
              <a:t> </a:t>
            </a:r>
            <a:r>
              <a:rPr lang="en-GB" sz="1400" err="1">
                <a:ea typeface="+mn-lt"/>
                <a:cs typeface="+mn-lt"/>
              </a:rPr>
              <a:t>zabranjenih</a:t>
            </a:r>
            <a:r>
              <a:rPr lang="en-GB" sz="1400" dirty="0">
                <a:ea typeface="+mn-lt"/>
                <a:cs typeface="+mn-lt"/>
              </a:rPr>
              <a:t> </a:t>
            </a:r>
            <a:r>
              <a:rPr lang="en-GB" sz="1400" err="1">
                <a:ea typeface="+mn-lt"/>
                <a:cs typeface="+mn-lt"/>
              </a:rPr>
              <a:t>poteza</a:t>
            </a:r>
            <a:r>
              <a:rPr lang="en-GB" sz="1400" dirty="0">
                <a:ea typeface="+mn-lt"/>
                <a:cs typeface="+mn-lt"/>
              </a:rPr>
              <a:t>. </a:t>
            </a:r>
            <a:r>
              <a:rPr lang="en-GB" sz="1400" err="1">
                <a:ea typeface="+mn-lt"/>
                <a:cs typeface="+mn-lt"/>
              </a:rPr>
              <a:t>Tražimo</a:t>
            </a:r>
            <a:r>
              <a:rPr lang="en-GB" sz="1400" dirty="0">
                <a:ea typeface="+mn-lt"/>
                <a:cs typeface="+mn-lt"/>
              </a:rPr>
              <a:t> </a:t>
            </a:r>
            <a:r>
              <a:rPr lang="en-GB" sz="1400" err="1">
                <a:ea typeface="+mn-lt"/>
                <a:cs typeface="+mn-lt"/>
              </a:rPr>
              <a:t>najbolji</a:t>
            </a:r>
            <a:r>
              <a:rPr lang="en-GB" sz="1400" dirty="0">
                <a:ea typeface="+mn-lt"/>
                <a:cs typeface="+mn-lt"/>
              </a:rPr>
              <a:t> </a:t>
            </a:r>
            <a:r>
              <a:rPr lang="en-GB" sz="1400" err="1">
                <a:ea typeface="+mn-lt"/>
                <a:cs typeface="+mn-lt"/>
              </a:rPr>
              <a:t>dozvoljen</a:t>
            </a:r>
            <a:r>
              <a:rPr lang="en-GB" sz="1400" dirty="0">
                <a:ea typeface="+mn-lt"/>
                <a:cs typeface="+mn-lt"/>
              </a:rPr>
              <a:t> </a:t>
            </a:r>
            <a:r>
              <a:rPr lang="en-GB" sz="1400" err="1">
                <a:ea typeface="+mn-lt"/>
                <a:cs typeface="+mn-lt"/>
              </a:rPr>
              <a:t>potez</a:t>
            </a:r>
            <a:r>
              <a:rPr lang="en-GB" sz="1400" dirty="0">
                <a:ea typeface="+mn-lt"/>
                <a:cs typeface="+mn-lt"/>
              </a:rPr>
              <a:t> u </a:t>
            </a:r>
            <a:r>
              <a:rPr lang="en-GB" sz="1400" err="1">
                <a:ea typeface="+mn-lt"/>
                <a:cs typeface="+mn-lt"/>
              </a:rPr>
              <a:t>datoj</a:t>
            </a:r>
            <a:r>
              <a:rPr lang="en-GB" sz="1400" dirty="0">
                <a:ea typeface="+mn-lt"/>
                <a:cs typeface="+mn-lt"/>
              </a:rPr>
              <a:t> </a:t>
            </a:r>
            <a:r>
              <a:rPr lang="en-GB" sz="1400" err="1">
                <a:ea typeface="+mn-lt"/>
                <a:cs typeface="+mn-lt"/>
              </a:rPr>
              <a:t>iteraciji</a:t>
            </a:r>
            <a:r>
              <a:rPr lang="en-GB" sz="1400" dirty="0">
                <a:ea typeface="+mn-lt"/>
                <a:cs typeface="+mn-lt"/>
              </a:rPr>
              <a:t>. Za </a:t>
            </a:r>
            <a:r>
              <a:rPr lang="en-GB" sz="1400" err="1">
                <a:ea typeface="+mn-lt"/>
                <a:cs typeface="+mn-lt"/>
              </a:rPr>
              <a:t>svaki</a:t>
            </a:r>
            <a:r>
              <a:rPr lang="en-GB" sz="1400" dirty="0">
                <a:ea typeface="+mn-lt"/>
                <a:cs typeface="+mn-lt"/>
              </a:rPr>
              <a:t> </a:t>
            </a:r>
            <a:r>
              <a:rPr lang="en-GB" sz="1400" err="1">
                <a:ea typeface="+mn-lt"/>
                <a:cs typeface="+mn-lt"/>
              </a:rPr>
              <a:t>indeks</a:t>
            </a:r>
            <a:r>
              <a:rPr lang="en-GB" sz="1400" dirty="0">
                <a:ea typeface="+mn-lt"/>
                <a:cs typeface="+mn-lt"/>
              </a:rPr>
              <a:t> </a:t>
            </a:r>
            <a:r>
              <a:rPr lang="en-GB" sz="1400" err="1">
                <a:ea typeface="+mn-lt"/>
                <a:cs typeface="+mn-lt"/>
              </a:rPr>
              <a:t>rešenja</a:t>
            </a:r>
            <a:r>
              <a:rPr lang="en-GB" sz="1400" dirty="0">
                <a:ea typeface="+mn-lt"/>
                <a:cs typeface="+mn-lt"/>
              </a:rPr>
              <a:t>, </a:t>
            </a:r>
            <a:r>
              <a:rPr lang="en-GB" sz="1400" err="1">
                <a:ea typeface="+mn-lt"/>
                <a:cs typeface="+mn-lt"/>
              </a:rPr>
              <a:t>prolazi</a:t>
            </a:r>
            <a:r>
              <a:rPr lang="en-GB" sz="1400" dirty="0">
                <a:ea typeface="+mn-lt"/>
                <a:cs typeface="+mn-lt"/>
              </a:rPr>
              <a:t> se </a:t>
            </a:r>
            <a:r>
              <a:rPr lang="en-GB" sz="1400" err="1">
                <a:ea typeface="+mn-lt"/>
                <a:cs typeface="+mn-lt"/>
              </a:rPr>
              <a:t>kroz</a:t>
            </a:r>
            <a:r>
              <a:rPr lang="en-GB" sz="1400" dirty="0">
                <a:ea typeface="+mn-lt"/>
                <a:cs typeface="+mn-lt"/>
              </a:rPr>
              <a:t> </a:t>
            </a:r>
            <a:r>
              <a:rPr lang="en-GB" sz="1400" err="1">
                <a:ea typeface="+mn-lt"/>
                <a:cs typeface="+mn-lt"/>
              </a:rPr>
              <a:t>sve</a:t>
            </a:r>
            <a:r>
              <a:rPr lang="en-GB" sz="1400" dirty="0">
                <a:ea typeface="+mn-lt"/>
                <a:cs typeface="+mn-lt"/>
              </a:rPr>
              <a:t> </a:t>
            </a:r>
            <a:r>
              <a:rPr lang="en-GB" sz="1400" err="1">
                <a:ea typeface="+mn-lt"/>
                <a:cs typeface="+mn-lt"/>
              </a:rPr>
              <a:t>boje</a:t>
            </a:r>
            <a:r>
              <a:rPr lang="en-GB" sz="1400" dirty="0">
                <a:ea typeface="+mn-lt"/>
                <a:cs typeface="+mn-lt"/>
              </a:rPr>
              <a:t> </a:t>
            </a:r>
            <a:r>
              <a:rPr lang="en-GB" sz="1400" err="1">
                <a:ea typeface="+mn-lt"/>
                <a:cs typeface="+mn-lt"/>
              </a:rPr>
              <a:t>i</a:t>
            </a:r>
            <a:r>
              <a:rPr lang="en-GB" sz="1400" dirty="0">
                <a:ea typeface="+mn-lt"/>
                <a:cs typeface="+mn-lt"/>
              </a:rPr>
              <a:t> </a:t>
            </a:r>
            <a:r>
              <a:rPr lang="en-GB" sz="1400" err="1">
                <a:ea typeface="+mn-lt"/>
                <a:cs typeface="+mn-lt"/>
              </a:rPr>
              <a:t>gleda</a:t>
            </a:r>
            <a:r>
              <a:rPr lang="en-GB" sz="1400" dirty="0">
                <a:ea typeface="+mn-lt"/>
                <a:cs typeface="+mn-lt"/>
              </a:rPr>
              <a:t> se </a:t>
            </a:r>
            <a:r>
              <a:rPr lang="en-GB" sz="1400" err="1">
                <a:ea typeface="+mn-lt"/>
                <a:cs typeface="+mn-lt"/>
              </a:rPr>
              <a:t>trenutno</a:t>
            </a:r>
            <a:r>
              <a:rPr lang="en-GB" sz="1400" dirty="0">
                <a:ea typeface="+mn-lt"/>
                <a:cs typeface="+mn-lt"/>
              </a:rPr>
              <a:t> </a:t>
            </a:r>
            <a:r>
              <a:rPr lang="en-GB" sz="1400" err="1">
                <a:ea typeface="+mn-lt"/>
                <a:cs typeface="+mn-lt"/>
              </a:rPr>
              <a:t>rešenje</a:t>
            </a:r>
            <a:r>
              <a:rPr lang="en-GB" sz="1400" dirty="0">
                <a:ea typeface="+mn-lt"/>
                <a:cs typeface="+mn-lt"/>
              </a:rPr>
              <a:t> </a:t>
            </a:r>
            <a:r>
              <a:rPr lang="en-GB" sz="1400" err="1">
                <a:ea typeface="+mn-lt"/>
                <a:cs typeface="+mn-lt"/>
              </a:rPr>
              <a:t>kao</a:t>
            </a:r>
            <a:r>
              <a:rPr lang="en-GB" sz="1400" dirty="0">
                <a:ea typeface="+mn-lt"/>
                <a:cs typeface="+mn-lt"/>
              </a:rPr>
              <a:t> </a:t>
            </a:r>
            <a:r>
              <a:rPr lang="en-GB" sz="1400" err="1">
                <a:ea typeface="+mn-lt"/>
                <a:cs typeface="+mn-lt"/>
              </a:rPr>
              <a:t>i</a:t>
            </a:r>
            <a:r>
              <a:rPr lang="en-GB" sz="1400" dirty="0">
                <a:ea typeface="+mn-lt"/>
                <a:cs typeface="+mn-lt"/>
              </a:rPr>
              <a:t> </a:t>
            </a:r>
            <a:r>
              <a:rPr lang="en-GB" sz="1400" err="1">
                <a:ea typeface="+mn-lt"/>
                <a:cs typeface="+mn-lt"/>
              </a:rPr>
              <a:t>najbolje</a:t>
            </a:r>
            <a:r>
              <a:rPr lang="en-GB" sz="1400" dirty="0">
                <a:ea typeface="+mn-lt"/>
                <a:cs typeface="+mn-lt"/>
              </a:rPr>
              <a:t> </a:t>
            </a:r>
            <a:r>
              <a:rPr lang="en-GB" sz="1400" err="1">
                <a:ea typeface="+mn-lt"/>
                <a:cs typeface="+mn-lt"/>
              </a:rPr>
              <a:t>rešenje</a:t>
            </a:r>
            <a:r>
              <a:rPr lang="en-GB" sz="1400" dirty="0">
                <a:ea typeface="+mn-lt"/>
                <a:cs typeface="+mn-lt"/>
              </a:rPr>
              <a:t>. </a:t>
            </a:r>
            <a:r>
              <a:rPr lang="en-GB" sz="1400" err="1">
                <a:ea typeface="+mn-lt"/>
                <a:cs typeface="+mn-lt"/>
              </a:rPr>
              <a:t>Čak</a:t>
            </a:r>
            <a:r>
              <a:rPr lang="en-GB" sz="1400" dirty="0">
                <a:ea typeface="+mn-lt"/>
                <a:cs typeface="+mn-lt"/>
              </a:rPr>
              <a:t> </a:t>
            </a:r>
            <a:r>
              <a:rPr lang="en-GB" sz="1400" err="1">
                <a:ea typeface="+mn-lt"/>
                <a:cs typeface="+mn-lt"/>
              </a:rPr>
              <a:t>iako</a:t>
            </a:r>
            <a:r>
              <a:rPr lang="en-GB" sz="1400" dirty="0">
                <a:ea typeface="+mn-lt"/>
                <a:cs typeface="+mn-lt"/>
              </a:rPr>
              <a:t> je </a:t>
            </a:r>
            <a:r>
              <a:rPr lang="en-GB" sz="1400" err="1">
                <a:ea typeface="+mn-lt"/>
                <a:cs typeface="+mn-lt"/>
              </a:rPr>
              <a:t>potez</a:t>
            </a:r>
            <a:r>
              <a:rPr lang="en-GB" sz="1400" dirty="0">
                <a:ea typeface="+mn-lt"/>
                <a:cs typeface="+mn-lt"/>
              </a:rPr>
              <a:t> </a:t>
            </a:r>
            <a:r>
              <a:rPr lang="en-GB" sz="1400" err="1">
                <a:ea typeface="+mn-lt"/>
                <a:cs typeface="+mn-lt"/>
              </a:rPr>
              <a:t>zabranjen</a:t>
            </a:r>
            <a:r>
              <a:rPr lang="en-GB" sz="1400" dirty="0">
                <a:ea typeface="+mn-lt"/>
                <a:cs typeface="+mn-lt"/>
              </a:rPr>
              <a:t>, tabu, </a:t>
            </a:r>
            <a:r>
              <a:rPr lang="en-GB" sz="1400" err="1">
                <a:ea typeface="+mn-lt"/>
                <a:cs typeface="+mn-lt"/>
              </a:rPr>
              <a:t>ako</a:t>
            </a:r>
            <a:r>
              <a:rPr lang="en-GB" sz="1400" dirty="0">
                <a:ea typeface="+mn-lt"/>
                <a:cs typeface="+mn-lt"/>
              </a:rPr>
              <a:t> je fitness </a:t>
            </a:r>
            <a:r>
              <a:rPr lang="en-GB" sz="1400" err="1">
                <a:ea typeface="+mn-lt"/>
                <a:cs typeface="+mn-lt"/>
              </a:rPr>
              <a:t>bolji</a:t>
            </a:r>
            <a:r>
              <a:rPr lang="en-GB" sz="1400" dirty="0">
                <a:ea typeface="+mn-lt"/>
                <a:cs typeface="+mn-lt"/>
              </a:rPr>
              <a:t> od </a:t>
            </a:r>
            <a:r>
              <a:rPr lang="en-GB" sz="1400" err="1">
                <a:ea typeface="+mn-lt"/>
                <a:cs typeface="+mn-lt"/>
              </a:rPr>
              <a:t>najboljeg</a:t>
            </a:r>
            <a:r>
              <a:rPr lang="en-GB" sz="1400" dirty="0">
                <a:ea typeface="+mn-lt"/>
                <a:cs typeface="+mn-lt"/>
              </a:rPr>
              <a:t> </a:t>
            </a:r>
            <a:r>
              <a:rPr lang="en-GB" sz="1400" err="1">
                <a:ea typeface="+mn-lt"/>
                <a:cs typeface="+mn-lt"/>
              </a:rPr>
              <a:t>dosadašnjeg</a:t>
            </a:r>
            <a:r>
              <a:rPr lang="en-GB" sz="1400" dirty="0">
                <a:ea typeface="+mn-lt"/>
                <a:cs typeface="+mn-lt"/>
              </a:rPr>
              <a:t> </a:t>
            </a:r>
            <a:r>
              <a:rPr lang="en-GB" sz="1400" err="1">
                <a:ea typeface="+mn-lt"/>
                <a:cs typeface="+mn-lt"/>
              </a:rPr>
              <a:t>pamtimo</a:t>
            </a:r>
            <a:r>
              <a:rPr lang="en-GB" sz="1400" dirty="0">
                <a:ea typeface="+mn-lt"/>
                <a:cs typeface="+mn-lt"/>
              </a:rPr>
              <a:t> ga.  Ako </a:t>
            </a:r>
            <a:r>
              <a:rPr lang="en-GB" sz="1400" err="1">
                <a:ea typeface="+mn-lt"/>
                <a:cs typeface="+mn-lt"/>
              </a:rPr>
              <a:t>smo</a:t>
            </a:r>
            <a:r>
              <a:rPr lang="en-GB" sz="1400" dirty="0">
                <a:ea typeface="+mn-lt"/>
                <a:cs typeface="+mn-lt"/>
              </a:rPr>
              <a:t> </a:t>
            </a:r>
            <a:r>
              <a:rPr lang="en-GB" sz="1400" err="1">
                <a:ea typeface="+mn-lt"/>
                <a:cs typeface="+mn-lt"/>
              </a:rPr>
              <a:t>našli</a:t>
            </a:r>
            <a:r>
              <a:rPr lang="en-GB" sz="1400" dirty="0">
                <a:ea typeface="+mn-lt"/>
                <a:cs typeface="+mn-lt"/>
              </a:rPr>
              <a:t> </a:t>
            </a:r>
            <a:r>
              <a:rPr lang="en-GB" sz="1400" err="1">
                <a:ea typeface="+mn-lt"/>
                <a:cs typeface="+mn-lt"/>
              </a:rPr>
              <a:t>najbolji</a:t>
            </a:r>
            <a:r>
              <a:rPr lang="en-GB" sz="1400" dirty="0">
                <a:ea typeface="+mn-lt"/>
                <a:cs typeface="+mn-lt"/>
              </a:rPr>
              <a:t> </a:t>
            </a:r>
            <a:r>
              <a:rPr lang="en-GB" sz="1400" err="1">
                <a:ea typeface="+mn-lt"/>
                <a:cs typeface="+mn-lt"/>
              </a:rPr>
              <a:t>potez</a:t>
            </a:r>
            <a:r>
              <a:rPr lang="en-GB" sz="1400" dirty="0">
                <a:ea typeface="+mn-lt"/>
                <a:cs typeface="+mn-lt"/>
              </a:rPr>
              <a:t> u </a:t>
            </a:r>
            <a:r>
              <a:rPr lang="en-GB" sz="1400" err="1">
                <a:ea typeface="+mn-lt"/>
                <a:cs typeface="+mn-lt"/>
              </a:rPr>
              <a:t>iteraciji</a:t>
            </a:r>
            <a:r>
              <a:rPr lang="en-GB" sz="1400" dirty="0">
                <a:ea typeface="+mn-lt"/>
                <a:cs typeface="+mn-lt"/>
              </a:rPr>
              <a:t>, </a:t>
            </a:r>
            <a:r>
              <a:rPr lang="en-GB" sz="1400" err="1">
                <a:ea typeface="+mn-lt"/>
                <a:cs typeface="+mn-lt"/>
              </a:rPr>
              <a:t>zapravo</a:t>
            </a:r>
            <a:r>
              <a:rPr lang="en-GB" sz="1400" dirty="0">
                <a:ea typeface="+mn-lt"/>
                <a:cs typeface="+mn-lt"/>
              </a:rPr>
              <a:t> ga </a:t>
            </a:r>
            <a:r>
              <a:rPr lang="en-GB" sz="1400" err="1">
                <a:ea typeface="+mn-lt"/>
                <a:cs typeface="+mn-lt"/>
              </a:rPr>
              <a:t>menjamo</a:t>
            </a:r>
            <a:r>
              <a:rPr lang="en-GB" sz="1400" dirty="0">
                <a:ea typeface="+mn-lt"/>
                <a:cs typeface="+mn-lt"/>
              </a:rPr>
              <a:t>. </a:t>
            </a:r>
            <a:r>
              <a:rPr lang="en-GB" sz="1400" err="1">
                <a:ea typeface="+mn-lt"/>
                <a:cs typeface="+mn-lt"/>
              </a:rPr>
              <a:t>Stavljamo</a:t>
            </a:r>
            <a:r>
              <a:rPr lang="en-GB" sz="1400" dirty="0">
                <a:ea typeface="+mn-lt"/>
                <a:cs typeface="+mn-lt"/>
              </a:rPr>
              <a:t> </a:t>
            </a:r>
            <a:r>
              <a:rPr lang="en-GB" sz="1400" err="1">
                <a:ea typeface="+mn-lt"/>
                <a:cs typeface="+mn-lt"/>
              </a:rPr>
              <a:t>zabranu</a:t>
            </a:r>
            <a:r>
              <a:rPr lang="en-GB" sz="1400" dirty="0">
                <a:ea typeface="+mn-lt"/>
                <a:cs typeface="+mn-lt"/>
              </a:rPr>
              <a:t> </a:t>
            </a:r>
            <a:r>
              <a:rPr lang="en-GB" sz="1400" err="1">
                <a:ea typeface="+mn-lt"/>
                <a:cs typeface="+mn-lt"/>
              </a:rPr>
              <a:t>na</a:t>
            </a:r>
            <a:r>
              <a:rPr lang="en-GB" sz="1400" dirty="0">
                <a:ea typeface="+mn-lt"/>
                <a:cs typeface="+mn-lt"/>
              </a:rPr>
              <a:t> </a:t>
            </a:r>
            <a:r>
              <a:rPr lang="en-GB" sz="1400" err="1">
                <a:ea typeface="+mn-lt"/>
                <a:cs typeface="+mn-lt"/>
              </a:rPr>
              <a:t>vraćanje</a:t>
            </a:r>
            <a:r>
              <a:rPr lang="en-GB" sz="1400" dirty="0">
                <a:ea typeface="+mn-lt"/>
                <a:cs typeface="+mn-lt"/>
              </a:rPr>
              <a:t> stare </a:t>
            </a:r>
            <a:r>
              <a:rPr lang="en-GB" sz="1400" err="1">
                <a:ea typeface="+mn-lt"/>
                <a:cs typeface="+mn-lt"/>
              </a:rPr>
              <a:t>boje</a:t>
            </a:r>
            <a:r>
              <a:rPr lang="en-GB" sz="1400" dirty="0">
                <a:ea typeface="+mn-lt"/>
                <a:cs typeface="+mn-lt"/>
              </a:rPr>
              <a:t> za </a:t>
            </a:r>
            <a:r>
              <a:rPr lang="en-GB" sz="1400" err="1">
                <a:ea typeface="+mn-lt"/>
                <a:cs typeface="+mn-lt"/>
              </a:rPr>
              <a:t>odredjeni</a:t>
            </a:r>
            <a:r>
              <a:rPr lang="en-GB" sz="1400" dirty="0">
                <a:ea typeface="+mn-lt"/>
                <a:cs typeface="+mn-lt"/>
              </a:rPr>
              <a:t> </a:t>
            </a:r>
            <a:r>
              <a:rPr lang="en-GB" sz="1400" err="1">
                <a:ea typeface="+mn-lt"/>
                <a:cs typeface="+mn-lt"/>
              </a:rPr>
              <a:t>broj</a:t>
            </a:r>
            <a:r>
              <a:rPr lang="en-GB" sz="1400" dirty="0">
                <a:ea typeface="+mn-lt"/>
                <a:cs typeface="+mn-lt"/>
              </a:rPr>
              <a:t> </a:t>
            </a:r>
            <a:r>
              <a:rPr lang="en-GB" sz="1400" err="1">
                <a:ea typeface="+mn-lt"/>
                <a:cs typeface="+mn-lt"/>
              </a:rPr>
              <a:t>iteracija</a:t>
            </a:r>
            <a:r>
              <a:rPr lang="en-GB" sz="1400" dirty="0">
                <a:ea typeface="+mn-lt"/>
                <a:cs typeface="+mn-lt"/>
              </a:rPr>
              <a:t>. </a:t>
            </a:r>
            <a:r>
              <a:rPr lang="en-GB" sz="1400" err="1">
                <a:ea typeface="+mn-lt"/>
                <a:cs typeface="+mn-lt"/>
              </a:rPr>
              <a:t>Izlazak</a:t>
            </a:r>
            <a:r>
              <a:rPr lang="en-GB" sz="1400" dirty="0">
                <a:ea typeface="+mn-lt"/>
                <a:cs typeface="+mn-lt"/>
              </a:rPr>
              <a:t> </a:t>
            </a:r>
            <a:r>
              <a:rPr lang="en-GB" sz="1400" err="1">
                <a:ea typeface="+mn-lt"/>
                <a:cs typeface="+mn-lt"/>
              </a:rPr>
              <a:t>iz</a:t>
            </a:r>
            <a:r>
              <a:rPr lang="en-GB" sz="1400" dirty="0">
                <a:ea typeface="+mn-lt"/>
                <a:cs typeface="+mn-lt"/>
              </a:rPr>
              <a:t> </a:t>
            </a:r>
            <a:r>
              <a:rPr lang="en-GB" sz="1400" err="1">
                <a:ea typeface="+mn-lt"/>
                <a:cs typeface="+mn-lt"/>
              </a:rPr>
              <a:t>petlje</a:t>
            </a:r>
            <a:r>
              <a:rPr lang="en-GB" sz="1400" dirty="0">
                <a:ea typeface="+mn-lt"/>
                <a:cs typeface="+mn-lt"/>
              </a:rPr>
              <a:t> je </a:t>
            </a:r>
            <a:r>
              <a:rPr lang="en-GB" sz="1400" err="1">
                <a:ea typeface="+mn-lt"/>
                <a:cs typeface="+mn-lt"/>
              </a:rPr>
              <a:t>dostignut</a:t>
            </a:r>
            <a:r>
              <a:rPr lang="en-GB" sz="1400" dirty="0">
                <a:ea typeface="+mn-lt"/>
                <a:cs typeface="+mn-lt"/>
              </a:rPr>
              <a:t> </a:t>
            </a:r>
            <a:r>
              <a:rPr lang="en-GB" sz="1400" err="1">
                <a:ea typeface="+mn-lt"/>
                <a:cs typeface="+mn-lt"/>
              </a:rPr>
              <a:t>maksimum</a:t>
            </a:r>
            <a:r>
              <a:rPr lang="en-GB" sz="1400" dirty="0">
                <a:ea typeface="+mn-lt"/>
                <a:cs typeface="+mn-lt"/>
              </a:rPr>
              <a:t> </a:t>
            </a:r>
            <a:r>
              <a:rPr lang="en-GB" sz="1400" err="1">
                <a:ea typeface="+mn-lt"/>
                <a:cs typeface="+mn-lt"/>
              </a:rPr>
              <a:t>iteracija</a:t>
            </a:r>
            <a:r>
              <a:rPr lang="en-GB" sz="1400" dirty="0">
                <a:ea typeface="+mn-lt"/>
                <a:cs typeface="+mn-lt"/>
              </a:rPr>
              <a:t> </a:t>
            </a:r>
            <a:r>
              <a:rPr lang="en-GB" sz="1400" err="1">
                <a:ea typeface="+mn-lt"/>
                <a:cs typeface="+mn-lt"/>
              </a:rPr>
              <a:t>ili</a:t>
            </a:r>
            <a:r>
              <a:rPr lang="en-GB" sz="1400" dirty="0">
                <a:ea typeface="+mn-lt"/>
                <a:cs typeface="+mn-lt"/>
              </a:rPr>
              <a:t> </a:t>
            </a:r>
            <a:r>
              <a:rPr lang="en-GB" sz="1400" err="1">
                <a:ea typeface="+mn-lt"/>
                <a:cs typeface="+mn-lt"/>
              </a:rPr>
              <a:t>pronadjen</a:t>
            </a:r>
            <a:r>
              <a:rPr lang="en-GB" sz="1400" dirty="0">
                <a:ea typeface="+mn-lt"/>
                <a:cs typeface="+mn-lt"/>
              </a:rPr>
              <a:t> fitness = 0. </a:t>
            </a:r>
            <a:endParaRPr lang="en-GB" sz="1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269E29-6155-1496-B6E8-458980DB45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74508" y="507961"/>
            <a:ext cx="5201138" cy="5669002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GB" b="1" i="1" err="1"/>
              <a:t>Shakingzi</a:t>
            </a:r>
            <a:r>
              <a:rPr lang="en-GB" dirty="0"/>
              <a:t>:</a:t>
            </a:r>
          </a:p>
          <a:p>
            <a:r>
              <a:rPr lang="en-GB" sz="1600" b="1" dirty="0">
                <a:ea typeface="+mn-lt"/>
                <a:cs typeface="+mn-lt"/>
              </a:rPr>
              <a:t>K </a:t>
            </a:r>
            <a:r>
              <a:rPr lang="en-GB" sz="1600" b="1" err="1">
                <a:ea typeface="+mn-lt"/>
                <a:cs typeface="+mn-lt"/>
              </a:rPr>
              <a:t>radnom</a:t>
            </a:r>
            <a:r>
              <a:rPr lang="en-GB" sz="1600" dirty="0">
                <a:ea typeface="+mn-lt"/>
                <a:cs typeface="+mn-lt"/>
              </a:rPr>
              <a:t> - </a:t>
            </a:r>
            <a:r>
              <a:rPr lang="en-GB" sz="1600" err="1">
                <a:ea typeface="+mn-lt"/>
                <a:cs typeface="+mn-lt"/>
              </a:rPr>
              <a:t>biranje</a:t>
            </a:r>
            <a:r>
              <a:rPr lang="en-GB" sz="1600" dirty="0">
                <a:ea typeface="+mn-lt"/>
                <a:cs typeface="+mn-lt"/>
              </a:rPr>
              <a:t> k random </a:t>
            </a:r>
            <a:r>
              <a:rPr lang="en-GB" sz="1600" err="1">
                <a:ea typeface="+mn-lt"/>
                <a:cs typeface="+mn-lt"/>
              </a:rPr>
              <a:t>boja</a:t>
            </a:r>
            <a:r>
              <a:rPr lang="en-GB" sz="1600" dirty="0">
                <a:ea typeface="+mn-lt"/>
                <a:cs typeface="+mn-lt"/>
              </a:rPr>
              <a:t> </a:t>
            </a:r>
            <a:r>
              <a:rPr lang="en-GB" sz="1600" err="1">
                <a:ea typeface="+mn-lt"/>
                <a:cs typeface="+mn-lt"/>
              </a:rPr>
              <a:t>i</a:t>
            </a:r>
            <a:r>
              <a:rPr lang="en-GB" sz="1600" dirty="0">
                <a:ea typeface="+mn-lt"/>
                <a:cs typeface="+mn-lt"/>
              </a:rPr>
              <a:t> </a:t>
            </a:r>
            <a:r>
              <a:rPr lang="en-GB" sz="1600" err="1">
                <a:ea typeface="+mn-lt"/>
                <a:cs typeface="+mn-lt"/>
              </a:rPr>
              <a:t>menjanje</a:t>
            </a:r>
            <a:r>
              <a:rPr lang="en-GB" sz="1600" dirty="0">
                <a:ea typeface="+mn-lt"/>
                <a:cs typeface="+mn-lt"/>
              </a:rPr>
              <a:t> </a:t>
            </a:r>
            <a:r>
              <a:rPr lang="en-GB" sz="1600" err="1">
                <a:ea typeface="+mn-lt"/>
                <a:cs typeface="+mn-lt"/>
              </a:rPr>
              <a:t>istih</a:t>
            </a:r>
            <a:r>
              <a:rPr lang="en-GB" sz="1600" dirty="0">
                <a:ea typeface="+mn-lt"/>
                <a:cs typeface="+mn-lt"/>
              </a:rPr>
              <a:t> u </a:t>
            </a:r>
            <a:r>
              <a:rPr lang="en-GB" sz="1600" err="1">
                <a:ea typeface="+mn-lt"/>
                <a:cs typeface="+mn-lt"/>
              </a:rPr>
              <a:t>drugu</a:t>
            </a:r>
            <a:r>
              <a:rPr lang="en-GB" sz="1600" dirty="0">
                <a:ea typeface="+mn-lt"/>
                <a:cs typeface="+mn-lt"/>
              </a:rPr>
              <a:t> random </a:t>
            </a:r>
            <a:r>
              <a:rPr lang="en-GB" sz="1600" err="1">
                <a:ea typeface="+mn-lt"/>
                <a:cs typeface="+mn-lt"/>
              </a:rPr>
              <a:t>boju</a:t>
            </a:r>
            <a:r>
              <a:rPr lang="en-GB" sz="1600" dirty="0">
                <a:ea typeface="+mn-lt"/>
                <a:cs typeface="+mn-lt"/>
              </a:rPr>
              <a:t> </a:t>
            </a:r>
            <a:endParaRPr lang="en-GB" sz="1600"/>
          </a:p>
          <a:p>
            <a:r>
              <a:rPr lang="en-GB" sz="1600" b="1" dirty="0">
                <a:ea typeface="+mn-lt"/>
                <a:cs typeface="+mn-lt"/>
              </a:rPr>
              <a:t>K swap</a:t>
            </a:r>
            <a:r>
              <a:rPr lang="en-GB" sz="1600" dirty="0">
                <a:ea typeface="+mn-lt"/>
                <a:cs typeface="+mn-lt"/>
              </a:rPr>
              <a:t> - k puta </a:t>
            </a:r>
            <a:r>
              <a:rPr lang="en-GB" sz="1600" err="1">
                <a:ea typeface="+mn-lt"/>
                <a:cs typeface="+mn-lt"/>
              </a:rPr>
              <a:t>permutovati</a:t>
            </a:r>
            <a:r>
              <a:rPr lang="en-GB" sz="1600" dirty="0">
                <a:ea typeface="+mn-lt"/>
                <a:cs typeface="+mn-lt"/>
              </a:rPr>
              <a:t> </a:t>
            </a:r>
            <a:r>
              <a:rPr lang="en-GB" sz="1600" err="1">
                <a:ea typeface="+mn-lt"/>
                <a:cs typeface="+mn-lt"/>
              </a:rPr>
              <a:t>trenutno</a:t>
            </a:r>
            <a:r>
              <a:rPr lang="en-GB" sz="1600" dirty="0">
                <a:ea typeface="+mn-lt"/>
                <a:cs typeface="+mn-lt"/>
              </a:rPr>
              <a:t> </a:t>
            </a:r>
            <a:r>
              <a:rPr lang="en-GB" sz="1600" err="1">
                <a:ea typeface="+mn-lt"/>
                <a:cs typeface="+mn-lt"/>
              </a:rPr>
              <a:t>resenje</a:t>
            </a:r>
            <a:r>
              <a:rPr lang="en-GB" sz="1600" dirty="0">
                <a:ea typeface="+mn-lt"/>
                <a:cs typeface="+mn-lt"/>
              </a:rPr>
              <a:t> </a:t>
            </a:r>
            <a:endParaRPr lang="en-GB" sz="1600"/>
          </a:p>
          <a:p>
            <a:r>
              <a:rPr lang="en-GB" sz="1600" b="1" dirty="0">
                <a:ea typeface="+mn-lt"/>
                <a:cs typeface="+mn-lt"/>
              </a:rPr>
              <a:t>Neighbours</a:t>
            </a:r>
            <a:r>
              <a:rPr lang="en-GB" sz="1600" dirty="0">
                <a:ea typeface="+mn-lt"/>
                <a:cs typeface="+mn-lt"/>
              </a:rPr>
              <a:t> - </a:t>
            </a:r>
            <a:r>
              <a:rPr lang="en-GB" sz="1600" err="1">
                <a:ea typeface="+mn-lt"/>
                <a:cs typeface="+mn-lt"/>
              </a:rPr>
              <a:t>uzimanje</a:t>
            </a:r>
            <a:r>
              <a:rPr lang="en-GB" sz="1600" dirty="0">
                <a:ea typeface="+mn-lt"/>
                <a:cs typeface="+mn-lt"/>
              </a:rPr>
              <a:t> random </a:t>
            </a:r>
            <a:r>
              <a:rPr lang="en-GB" sz="1600" err="1">
                <a:ea typeface="+mn-lt"/>
                <a:cs typeface="+mn-lt"/>
              </a:rPr>
              <a:t>ivice</a:t>
            </a:r>
            <a:r>
              <a:rPr lang="en-GB" sz="1600" dirty="0">
                <a:ea typeface="+mn-lt"/>
                <a:cs typeface="+mn-lt"/>
              </a:rPr>
              <a:t> </a:t>
            </a:r>
            <a:r>
              <a:rPr lang="en-GB" sz="1600" err="1">
                <a:ea typeface="+mn-lt"/>
                <a:cs typeface="+mn-lt"/>
              </a:rPr>
              <a:t>i</a:t>
            </a:r>
            <a:r>
              <a:rPr lang="en-GB" sz="1600" dirty="0">
                <a:ea typeface="+mn-lt"/>
                <a:cs typeface="+mn-lt"/>
              </a:rPr>
              <a:t> </a:t>
            </a:r>
            <a:r>
              <a:rPr lang="en-GB" sz="1600" err="1">
                <a:ea typeface="+mn-lt"/>
                <a:cs typeface="+mn-lt"/>
              </a:rPr>
              <a:t>menjanje</a:t>
            </a:r>
            <a:r>
              <a:rPr lang="en-GB" sz="1600" dirty="0">
                <a:ea typeface="+mn-lt"/>
                <a:cs typeface="+mn-lt"/>
              </a:rPr>
              <a:t> </a:t>
            </a:r>
            <a:r>
              <a:rPr lang="en-GB" sz="1600" err="1">
                <a:ea typeface="+mn-lt"/>
                <a:cs typeface="+mn-lt"/>
              </a:rPr>
              <a:t>boje</a:t>
            </a:r>
            <a:r>
              <a:rPr lang="en-GB" sz="1600" dirty="0">
                <a:ea typeface="+mn-lt"/>
                <a:cs typeface="+mn-lt"/>
              </a:rPr>
              <a:t> </a:t>
            </a:r>
            <a:r>
              <a:rPr lang="en-GB" sz="1600" err="1">
                <a:ea typeface="+mn-lt"/>
                <a:cs typeface="+mn-lt"/>
              </a:rPr>
              <a:t>njenim</a:t>
            </a:r>
            <a:r>
              <a:rPr lang="en-GB" sz="1600" dirty="0">
                <a:ea typeface="+mn-lt"/>
                <a:cs typeface="+mn-lt"/>
              </a:rPr>
              <a:t> </a:t>
            </a:r>
            <a:r>
              <a:rPr lang="en-GB" sz="1600" err="1">
                <a:ea typeface="+mn-lt"/>
                <a:cs typeface="+mn-lt"/>
              </a:rPr>
              <a:t>susedima</a:t>
            </a:r>
            <a:r>
              <a:rPr lang="en-GB" sz="1600" dirty="0">
                <a:ea typeface="+mn-lt"/>
                <a:cs typeface="+mn-lt"/>
              </a:rPr>
              <a:t> </a:t>
            </a:r>
            <a:endParaRPr lang="en-GB" sz="1600"/>
          </a:p>
          <a:p>
            <a:r>
              <a:rPr lang="en-GB" sz="1600" b="1" dirty="0">
                <a:ea typeface="+mn-lt"/>
                <a:cs typeface="+mn-lt"/>
              </a:rPr>
              <a:t>Incident (Conflict)</a:t>
            </a:r>
            <a:r>
              <a:rPr lang="en-GB" sz="1600" dirty="0">
                <a:ea typeface="+mn-lt"/>
                <a:cs typeface="+mn-lt"/>
              </a:rPr>
              <a:t> edges - od </a:t>
            </a:r>
            <a:r>
              <a:rPr lang="en-GB" sz="1600" err="1">
                <a:ea typeface="+mn-lt"/>
                <a:cs typeface="+mn-lt"/>
              </a:rPr>
              <a:t>svih</a:t>
            </a:r>
            <a:r>
              <a:rPr lang="en-GB" sz="1600" dirty="0">
                <a:ea typeface="+mn-lt"/>
                <a:cs typeface="+mn-lt"/>
              </a:rPr>
              <a:t> </a:t>
            </a:r>
            <a:r>
              <a:rPr lang="en-GB" sz="1600" err="1">
                <a:ea typeface="+mn-lt"/>
                <a:cs typeface="+mn-lt"/>
              </a:rPr>
              <a:t>incidentnih</a:t>
            </a:r>
            <a:r>
              <a:rPr lang="en-GB" sz="1600" dirty="0">
                <a:ea typeface="+mn-lt"/>
                <a:cs typeface="+mn-lt"/>
              </a:rPr>
              <a:t> </a:t>
            </a:r>
            <a:r>
              <a:rPr lang="en-GB" sz="1600" err="1">
                <a:ea typeface="+mn-lt"/>
                <a:cs typeface="+mn-lt"/>
              </a:rPr>
              <a:t>ivica</a:t>
            </a:r>
            <a:r>
              <a:rPr lang="en-GB" sz="1600" dirty="0">
                <a:ea typeface="+mn-lt"/>
                <a:cs typeface="+mn-lt"/>
              </a:rPr>
              <a:t> </a:t>
            </a:r>
            <a:r>
              <a:rPr lang="en-GB" sz="1600" err="1">
                <a:ea typeface="+mn-lt"/>
                <a:cs typeface="+mn-lt"/>
              </a:rPr>
              <a:t>uzeti</a:t>
            </a:r>
            <a:r>
              <a:rPr lang="en-GB" sz="1600" dirty="0">
                <a:ea typeface="+mn-lt"/>
                <a:cs typeface="+mn-lt"/>
              </a:rPr>
              <a:t> k random </a:t>
            </a:r>
            <a:r>
              <a:rPr lang="en-GB" sz="1600" err="1">
                <a:ea typeface="+mn-lt"/>
                <a:cs typeface="+mn-lt"/>
              </a:rPr>
              <a:t>i</a:t>
            </a:r>
            <a:r>
              <a:rPr lang="en-GB" sz="1600" dirty="0">
                <a:ea typeface="+mn-lt"/>
                <a:cs typeface="+mn-lt"/>
              </a:rPr>
              <a:t> </a:t>
            </a:r>
            <a:r>
              <a:rPr lang="en-GB" sz="1600" err="1">
                <a:ea typeface="+mn-lt"/>
                <a:cs typeface="+mn-lt"/>
              </a:rPr>
              <a:t>promeniti</a:t>
            </a:r>
            <a:r>
              <a:rPr lang="en-GB" sz="1600" dirty="0">
                <a:ea typeface="+mn-lt"/>
                <a:cs typeface="+mn-lt"/>
              </a:rPr>
              <a:t> </a:t>
            </a:r>
            <a:r>
              <a:rPr lang="en-GB" sz="1600" err="1">
                <a:ea typeface="+mn-lt"/>
                <a:cs typeface="+mn-lt"/>
              </a:rPr>
              <a:t>boju</a:t>
            </a:r>
            <a:r>
              <a:rPr lang="en-GB" sz="1600" dirty="0">
                <a:ea typeface="+mn-lt"/>
                <a:cs typeface="+mn-lt"/>
              </a:rPr>
              <a:t> </a:t>
            </a:r>
            <a:endParaRPr lang="en-GB" sz="16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43B5E1-FEC7-1BB8-17E9-A31BC3CBC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B9AC6-A586-49DC-BC7E-A34D1B3C35D1}" type="datetime1">
              <a:t>2/7/2026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0EA1DE-FFB8-BD0E-A03A-28646BA52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69A944-F8BA-0CB6-44DA-4506AEC68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8289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B3039-AEFA-4DCA-1EF1-95CE7D2836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44054" y="479468"/>
            <a:ext cx="5055527" cy="5697495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GB" dirty="0"/>
              <a:t>12 </a:t>
            </a:r>
            <a:r>
              <a:rPr lang="en-GB" dirty="0" err="1"/>
              <a:t>kombinacija</a:t>
            </a:r>
            <a:r>
              <a:rPr lang="en-GB" dirty="0"/>
              <a:t> rada VNS-a</a:t>
            </a:r>
          </a:p>
          <a:p>
            <a:r>
              <a:rPr lang="en-GB" dirty="0" err="1">
                <a:ea typeface="+mn-lt"/>
                <a:cs typeface="+mn-lt"/>
              </a:rPr>
              <a:t>Rezultati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su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podeljeni</a:t>
            </a:r>
            <a:r>
              <a:rPr lang="en-GB" dirty="0">
                <a:ea typeface="+mn-lt"/>
                <a:cs typeface="+mn-lt"/>
              </a:rPr>
              <a:t> po </a:t>
            </a:r>
            <a:r>
              <a:rPr lang="en-GB" dirty="0" err="1">
                <a:ea typeface="+mn-lt"/>
                <a:cs typeface="+mn-lt"/>
              </a:rPr>
              <a:t>vrsti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grafa</a:t>
            </a:r>
            <a:r>
              <a:rPr lang="en-GB" dirty="0">
                <a:ea typeface="+mn-lt"/>
                <a:cs typeface="+mn-lt"/>
              </a:rPr>
              <a:t>, za </a:t>
            </a:r>
            <a:r>
              <a:rPr lang="en-GB" dirty="0" err="1">
                <a:ea typeface="+mn-lt"/>
                <a:cs typeface="+mn-lt"/>
              </a:rPr>
              <a:t>svaku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kombinaciju</a:t>
            </a:r>
            <a:r>
              <a:rPr lang="en-GB" dirty="0">
                <a:ea typeface="+mn-lt"/>
                <a:cs typeface="+mn-lt"/>
              </a:rPr>
              <a:t>.  </a:t>
            </a:r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b="1" dirty="0">
                <a:ea typeface="+mn-lt"/>
                <a:cs typeface="+mn-lt"/>
              </a:rPr>
              <a:t>Mali </a:t>
            </a:r>
            <a:r>
              <a:rPr lang="en-GB" b="1" err="1">
                <a:ea typeface="+mn-lt"/>
                <a:cs typeface="+mn-lt"/>
              </a:rPr>
              <a:t>grafovi</a:t>
            </a:r>
            <a:r>
              <a:rPr lang="en-GB" dirty="0">
                <a:ea typeface="+mn-lt"/>
                <a:cs typeface="+mn-lt"/>
              </a:rPr>
              <a:t> – </a:t>
            </a:r>
            <a:r>
              <a:rPr lang="en-GB" err="1">
                <a:ea typeface="+mn-lt"/>
                <a:cs typeface="+mn-lt"/>
              </a:rPr>
              <a:t>sve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kombinacije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dolaze</a:t>
            </a:r>
            <a:r>
              <a:rPr lang="en-GB" dirty="0">
                <a:ea typeface="+mn-lt"/>
                <a:cs typeface="+mn-lt"/>
              </a:rPr>
              <a:t> do 0 </a:t>
            </a:r>
            <a:r>
              <a:rPr lang="en-GB" err="1">
                <a:ea typeface="+mn-lt"/>
                <a:cs typeface="+mn-lt"/>
              </a:rPr>
              <a:t>konflikata</a:t>
            </a:r>
            <a:r>
              <a:rPr lang="en-GB" dirty="0">
                <a:ea typeface="+mn-lt"/>
                <a:cs typeface="+mn-lt"/>
              </a:rPr>
              <a:t> u </a:t>
            </a:r>
            <a:r>
              <a:rPr lang="en-GB" err="1">
                <a:ea typeface="+mn-lt"/>
                <a:cs typeface="+mn-lt"/>
              </a:rPr>
              <a:t>malom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vremenskom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periodu</a:t>
            </a:r>
            <a:r>
              <a:rPr lang="en-GB" dirty="0">
                <a:ea typeface="+mn-lt"/>
                <a:cs typeface="+mn-lt"/>
              </a:rPr>
              <a:t> </a:t>
            </a:r>
          </a:p>
          <a:p>
            <a:r>
              <a:rPr lang="en-GB" b="1" dirty="0">
                <a:ea typeface="+mn-lt"/>
                <a:cs typeface="+mn-lt"/>
              </a:rPr>
              <a:t>SNARK </a:t>
            </a:r>
            <a:r>
              <a:rPr lang="en-GB" b="1" dirty="0" err="1">
                <a:ea typeface="+mn-lt"/>
                <a:cs typeface="+mn-lt"/>
              </a:rPr>
              <a:t>grafovi</a:t>
            </a:r>
            <a:r>
              <a:rPr lang="en-GB" b="1" dirty="0">
                <a:ea typeface="+mn-lt"/>
                <a:cs typeface="+mn-lt"/>
              </a:rPr>
              <a:t> -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kada</a:t>
            </a:r>
            <a:r>
              <a:rPr lang="en-GB" dirty="0">
                <a:ea typeface="+mn-lt"/>
                <a:cs typeface="+mn-lt"/>
              </a:rPr>
              <a:t> se </a:t>
            </a:r>
            <a:r>
              <a:rPr lang="en-GB" dirty="0" err="1">
                <a:ea typeface="+mn-lt"/>
                <a:cs typeface="+mn-lt"/>
              </a:rPr>
              <a:t>hromatski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indeks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poveća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na</a:t>
            </a:r>
            <a:r>
              <a:rPr lang="en-GB" dirty="0">
                <a:ea typeface="+mn-lt"/>
                <a:cs typeface="+mn-lt"/>
              </a:rPr>
              <a:t> Δ+1, </a:t>
            </a:r>
            <a:r>
              <a:rPr lang="en-GB" dirty="0" err="1">
                <a:ea typeface="+mn-lt"/>
                <a:cs typeface="+mn-lt"/>
              </a:rPr>
              <a:t>rešenje</a:t>
            </a:r>
            <a:r>
              <a:rPr lang="en-GB" dirty="0">
                <a:ea typeface="+mn-lt"/>
                <a:cs typeface="+mn-lt"/>
              </a:rPr>
              <a:t> se </a:t>
            </a:r>
            <a:r>
              <a:rPr lang="en-GB" dirty="0" err="1">
                <a:ea typeface="+mn-lt"/>
                <a:cs typeface="+mn-lt"/>
              </a:rPr>
              <a:t>nalazi</a:t>
            </a:r>
            <a:r>
              <a:rPr lang="en-GB" dirty="0">
                <a:ea typeface="+mn-lt"/>
                <a:cs typeface="+mn-lt"/>
              </a:rPr>
              <a:t> za </a:t>
            </a:r>
            <a:r>
              <a:rPr lang="en-GB" dirty="0" err="1">
                <a:ea typeface="+mn-lt"/>
                <a:cs typeface="+mn-lt"/>
              </a:rPr>
              <a:t>manje</a:t>
            </a:r>
            <a:r>
              <a:rPr lang="en-GB" dirty="0">
                <a:ea typeface="+mn-lt"/>
                <a:cs typeface="+mn-lt"/>
              </a:rPr>
              <a:t> od </a:t>
            </a:r>
            <a:r>
              <a:rPr lang="en-GB" dirty="0" err="1">
                <a:ea typeface="+mn-lt"/>
                <a:cs typeface="+mn-lt"/>
              </a:rPr>
              <a:t>jedne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sekunde</a:t>
            </a:r>
            <a:r>
              <a:rPr lang="en-GB" dirty="0">
                <a:ea typeface="+mn-lt"/>
                <a:cs typeface="+mn-lt"/>
              </a:rPr>
              <a:t>. </a:t>
            </a:r>
            <a:endParaRPr lang="en-GB" dirty="0"/>
          </a:p>
        </p:txBody>
      </p:sp>
      <p:pic>
        <p:nvPicPr>
          <p:cNvPr id="8" name="Content Placeholder 7" descr="A math equation with a square and a few square and a few square and a few square and a few square and a few square and a few square and a few square and a few square and&#10;&#10;AI-generated content may be incorrect.">
            <a:extLst>
              <a:ext uri="{FF2B5EF4-FFF2-40B4-BE49-F238E27FC236}">
                <a16:creationId xmlns:a16="http://schemas.microsoft.com/office/drawing/2014/main" id="{3FFBABB6-3FA4-672D-B7D9-CF7A5D8101C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28431" y="1979824"/>
            <a:ext cx="5464907" cy="574418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948162-9972-0FB8-BA30-4146F7455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88B43-B581-45AC-8086-AAF1362CCEFB}" type="datetime1">
              <a:t>2/7/2026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BE50A4-3100-4A87-E261-359D1FCB4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232DEB-5ADB-BA4D-1AF2-667B83638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6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DAE2BF-0EFE-1C29-554D-B9990D9CE28B}"/>
              </a:ext>
            </a:extLst>
          </p:cNvPr>
          <p:cNvSpPr txBox="1"/>
          <p:nvPr/>
        </p:nvSpPr>
        <p:spPr>
          <a:xfrm>
            <a:off x="6914514" y="295808"/>
            <a:ext cx="496711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GB" b="1" dirty="0" err="1"/>
              <a:t>Veliki</a:t>
            </a:r>
            <a:r>
              <a:rPr lang="en-GB" b="1" dirty="0"/>
              <a:t> </a:t>
            </a:r>
            <a:r>
              <a:rPr lang="en-GB" b="1" dirty="0" err="1"/>
              <a:t>grafovi</a:t>
            </a:r>
            <a:r>
              <a:rPr lang="en-GB" dirty="0"/>
              <a:t> </a:t>
            </a:r>
            <a:r>
              <a:rPr lang="en-GB" dirty="0">
                <a:ea typeface="+mn-lt"/>
                <a:cs typeface="+mn-lt"/>
              </a:rPr>
              <a:t>(22 – 755 </a:t>
            </a:r>
            <a:r>
              <a:rPr lang="en-GB" dirty="0" err="1">
                <a:ea typeface="+mn-lt"/>
                <a:cs typeface="+mn-lt"/>
              </a:rPr>
              <a:t>ivica</a:t>
            </a:r>
            <a:r>
              <a:rPr lang="en-GB" dirty="0">
                <a:ea typeface="+mn-lt"/>
                <a:cs typeface="+mn-lt"/>
              </a:rPr>
              <a:t>)</a:t>
            </a:r>
            <a:endParaRPr lang="en-US" dirty="0"/>
          </a:p>
        </p:txBody>
      </p:sp>
      <p:pic>
        <p:nvPicPr>
          <p:cNvPr id="10" name="Picture 9" descr="A screenshot of a graph&#10;&#10;AI-generated content may be incorrect.">
            <a:extLst>
              <a:ext uri="{FF2B5EF4-FFF2-40B4-BE49-F238E27FC236}">
                <a16:creationId xmlns:a16="http://schemas.microsoft.com/office/drawing/2014/main" id="{40677FB8-012C-9BAF-0AF9-6466BB2347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5516" y="820006"/>
            <a:ext cx="4867275" cy="414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434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533D22-CC09-728F-6498-ADA0BBFC6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3DFEE-AE66-43A3-904B-038A6F79097D}" type="datetime1">
              <a:t>2/7/2026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95E1F1-410A-8F34-876D-A3CB65339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07563F-BCA1-80E7-2787-DCAEC4020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ABAE0E-B798-EB12-26C5-7FF2EED00E17}"/>
              </a:ext>
            </a:extLst>
          </p:cNvPr>
          <p:cNvSpPr txBox="1"/>
          <p:nvPr/>
        </p:nvSpPr>
        <p:spPr>
          <a:xfrm>
            <a:off x="456494" y="406735"/>
            <a:ext cx="481594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GB" b="1" err="1">
                <a:ea typeface="+mn-lt"/>
                <a:cs typeface="+mn-lt"/>
              </a:rPr>
              <a:t>RandomGNP</a:t>
            </a:r>
            <a:r>
              <a:rPr lang="en-GB" b="1" dirty="0">
                <a:ea typeface="+mn-lt"/>
                <a:cs typeface="+mn-lt"/>
              </a:rPr>
              <a:t> -</a:t>
            </a:r>
            <a:r>
              <a:rPr lang="en-GB" dirty="0">
                <a:ea typeface="+mn-lt"/>
                <a:cs typeface="+mn-lt"/>
              </a:rPr>
              <a:t> random </a:t>
            </a:r>
            <a:r>
              <a:rPr lang="en-GB" err="1">
                <a:ea typeface="+mn-lt"/>
                <a:cs typeface="+mn-lt"/>
              </a:rPr>
              <a:t>generisan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graf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sa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nx.gnp_random_graph</a:t>
            </a:r>
            <a:r>
              <a:rPr lang="en-GB" dirty="0">
                <a:ea typeface="+mn-lt"/>
                <a:cs typeface="+mn-lt"/>
              </a:rPr>
              <a:t>(</a:t>
            </a:r>
            <a:r>
              <a:rPr lang="en-GB" err="1">
                <a:ea typeface="+mn-lt"/>
                <a:cs typeface="+mn-lt"/>
              </a:rPr>
              <a:t>n,p</a:t>
            </a:r>
            <a:r>
              <a:rPr lang="en-GB" dirty="0">
                <a:ea typeface="+mn-lt"/>
                <a:cs typeface="+mn-lt"/>
              </a:rPr>
              <a:t>) -</a:t>
            </a:r>
            <a:r>
              <a:rPr lang="en-GB" err="1">
                <a:ea typeface="+mn-lt"/>
                <a:cs typeface="+mn-lt"/>
              </a:rPr>
              <a:t>gde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su</a:t>
            </a:r>
            <a:r>
              <a:rPr lang="en-GB" dirty="0">
                <a:ea typeface="+mn-lt"/>
                <a:cs typeface="+mn-lt"/>
              </a:rPr>
              <a:t> n </a:t>
            </a:r>
            <a:r>
              <a:rPr lang="en-GB" err="1">
                <a:ea typeface="+mn-lt"/>
                <a:cs typeface="+mn-lt"/>
              </a:rPr>
              <a:t>broj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čvorova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i</a:t>
            </a:r>
            <a:r>
              <a:rPr lang="en-GB" dirty="0">
                <a:ea typeface="+mn-lt"/>
                <a:cs typeface="+mn-lt"/>
              </a:rPr>
              <a:t> p </a:t>
            </a:r>
            <a:r>
              <a:rPr lang="en-GB" err="1">
                <a:ea typeface="+mn-lt"/>
                <a:cs typeface="+mn-lt"/>
              </a:rPr>
              <a:t>verovatnoća</a:t>
            </a:r>
            <a:r>
              <a:rPr lang="en-GB" dirty="0">
                <a:ea typeface="+mn-lt"/>
                <a:cs typeface="+mn-lt"/>
              </a:rPr>
              <a:t> za </a:t>
            </a:r>
            <a:r>
              <a:rPr lang="en-GB" err="1">
                <a:ea typeface="+mn-lt"/>
                <a:cs typeface="+mn-lt"/>
              </a:rPr>
              <a:t>nastanak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ivice</a:t>
            </a:r>
            <a:r>
              <a:rPr lang="en-GB" dirty="0">
                <a:ea typeface="+mn-lt"/>
                <a:cs typeface="+mn-lt"/>
              </a:rPr>
              <a:t>. </a:t>
            </a:r>
            <a:endParaRPr lang="en-GB" dirty="0"/>
          </a:p>
        </p:txBody>
      </p:sp>
      <p:pic>
        <p:nvPicPr>
          <p:cNvPr id="6" name="Picture 5" descr="A graph of a random gnp graph&#10;&#10;AI-generated content may be incorrect.">
            <a:extLst>
              <a:ext uri="{FF2B5EF4-FFF2-40B4-BE49-F238E27FC236}">
                <a16:creationId xmlns:a16="http://schemas.microsoft.com/office/drawing/2014/main" id="{412D9262-33FA-D1E3-CA9D-A054A312C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513" y="1718775"/>
            <a:ext cx="4972050" cy="41433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5687674-6E8C-386F-788E-BE5620FAB80F}"/>
              </a:ext>
            </a:extLst>
          </p:cNvPr>
          <p:cNvSpPr txBox="1"/>
          <p:nvPr/>
        </p:nvSpPr>
        <p:spPr>
          <a:xfrm>
            <a:off x="6138018" y="406736"/>
            <a:ext cx="516431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l">
              <a:buFont typeface="Arial"/>
              <a:buChar char="•"/>
            </a:pPr>
            <a:r>
              <a:rPr lang="en-GB" b="1" err="1"/>
              <a:t>Bipartitivni</a:t>
            </a:r>
            <a:endParaRPr lang="en-GB" b="1"/>
          </a:p>
        </p:txBody>
      </p:sp>
      <p:pic>
        <p:nvPicPr>
          <p:cNvPr id="8" name="Picture 7" descr="A graph of biparticle graphs&#10;&#10;AI-generated content may be incorrect.">
            <a:extLst>
              <a:ext uri="{FF2B5EF4-FFF2-40B4-BE49-F238E27FC236}">
                <a16:creationId xmlns:a16="http://schemas.microsoft.com/office/drawing/2014/main" id="{92706BEB-E32E-507B-0C9E-CDDE880EF4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1437" y="1611313"/>
            <a:ext cx="4972050" cy="414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840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FC521-4232-CB73-8A58-C2E54CC734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3138" y="548605"/>
            <a:ext cx="10240903" cy="5866063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GB" sz="3200" b="1" err="1"/>
              <a:t>Zaključak</a:t>
            </a:r>
            <a:r>
              <a:rPr lang="en-GB" sz="3200" b="1" dirty="0"/>
              <a:t> za VNS:</a:t>
            </a:r>
            <a:endParaRPr lang="en-US" sz="3200" b="1" dirty="0"/>
          </a:p>
          <a:p>
            <a:endParaRPr lang="en-GB" dirty="0"/>
          </a:p>
          <a:p>
            <a:r>
              <a:rPr lang="en-GB" dirty="0"/>
              <a:t>First Improvement </a:t>
            </a:r>
            <a:r>
              <a:rPr lang="en-GB" dirty="0">
                <a:ea typeface="+mn-lt"/>
                <a:cs typeface="+mn-lt"/>
              </a:rPr>
              <a:t>se </a:t>
            </a:r>
            <a:r>
              <a:rPr lang="en-GB" dirty="0" err="1">
                <a:ea typeface="+mn-lt"/>
                <a:cs typeface="+mn-lt"/>
              </a:rPr>
              <a:t>izdvaja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kao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najbolja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opcija</a:t>
            </a:r>
            <a:r>
              <a:rPr lang="en-GB" dirty="0">
                <a:ea typeface="+mn-lt"/>
                <a:cs typeface="+mn-lt"/>
              </a:rPr>
              <a:t> za </a:t>
            </a:r>
            <a:r>
              <a:rPr lang="en-GB" dirty="0" err="1">
                <a:ea typeface="+mn-lt"/>
                <a:cs typeface="+mn-lt"/>
              </a:rPr>
              <a:t>lokalnu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pretragu</a:t>
            </a:r>
            <a:r>
              <a:rPr lang="en-GB" dirty="0">
                <a:ea typeface="+mn-lt"/>
                <a:cs typeface="+mn-lt"/>
              </a:rPr>
              <a:t>. </a:t>
            </a:r>
            <a:endParaRPr lang="en-GB"/>
          </a:p>
          <a:p>
            <a:endParaRPr lang="en-GB" dirty="0">
              <a:ea typeface="+mn-lt"/>
              <a:cs typeface="+mn-lt"/>
            </a:endParaRPr>
          </a:p>
          <a:p>
            <a:r>
              <a:rPr lang="en-GB" dirty="0">
                <a:ea typeface="+mn-lt"/>
                <a:cs typeface="+mn-lt"/>
              </a:rPr>
              <a:t>Shaking swap se </a:t>
            </a:r>
            <a:r>
              <a:rPr lang="en-GB" dirty="0" err="1">
                <a:ea typeface="+mn-lt"/>
                <a:cs typeface="+mn-lt"/>
              </a:rPr>
              <a:t>pokazuje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kao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nestabilna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opcija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diverzifikacije</a:t>
            </a:r>
            <a:r>
              <a:rPr lang="en-GB" dirty="0">
                <a:ea typeface="+mn-lt"/>
                <a:cs typeface="+mn-lt"/>
              </a:rPr>
              <a:t>.</a:t>
            </a:r>
            <a:endParaRPr lang="en-GB"/>
          </a:p>
          <a:p>
            <a:endParaRPr lang="en-GB" dirty="0"/>
          </a:p>
          <a:p>
            <a:r>
              <a:rPr lang="en-GB" err="1"/>
              <a:t>Kod</a:t>
            </a:r>
            <a:r>
              <a:rPr lang="en-GB" dirty="0"/>
              <a:t> </a:t>
            </a:r>
            <a:r>
              <a:rPr lang="en-GB" err="1"/>
              <a:t>teoremskih</a:t>
            </a:r>
            <a:r>
              <a:rPr lang="en-GB" dirty="0"/>
              <a:t> </a:t>
            </a:r>
            <a:r>
              <a:rPr lang="en-GB" err="1"/>
              <a:t>grafova</a:t>
            </a:r>
            <a:r>
              <a:rPr lang="en-GB" dirty="0"/>
              <a:t>, Tabu </a:t>
            </a:r>
            <a:r>
              <a:rPr lang="en-GB" err="1"/>
              <a:t>lokalna</a:t>
            </a:r>
            <a:r>
              <a:rPr lang="en-GB" dirty="0"/>
              <a:t> </a:t>
            </a:r>
            <a:r>
              <a:rPr lang="en-GB" err="1"/>
              <a:t>pretraga</a:t>
            </a:r>
            <a:r>
              <a:rPr lang="en-GB" dirty="0"/>
              <a:t> se </a:t>
            </a:r>
            <a:r>
              <a:rPr lang="en-GB" err="1"/>
              <a:t>pokazuje</a:t>
            </a:r>
            <a:r>
              <a:rPr lang="en-GB" dirty="0"/>
              <a:t> </a:t>
            </a:r>
            <a:r>
              <a:rPr lang="en-GB" err="1"/>
              <a:t>kao</a:t>
            </a:r>
            <a:r>
              <a:rPr lang="en-GB" dirty="0"/>
              <a:t> </a:t>
            </a:r>
            <a:r>
              <a:rPr lang="en-GB" err="1"/>
              <a:t>najbolji</a:t>
            </a:r>
            <a:r>
              <a:rPr lang="en-GB" dirty="0"/>
              <a:t> </a:t>
            </a:r>
            <a:r>
              <a:rPr lang="en-GB" err="1"/>
              <a:t>izbor</a:t>
            </a:r>
            <a:r>
              <a:rPr lang="en-GB" dirty="0"/>
              <a:t> .</a:t>
            </a:r>
            <a:endParaRPr lang="en-GB"/>
          </a:p>
          <a:p>
            <a:endParaRPr lang="en-GB" dirty="0">
              <a:ea typeface="+mn-lt"/>
              <a:cs typeface="+mn-lt"/>
            </a:endParaRPr>
          </a:p>
          <a:p>
            <a:r>
              <a:rPr lang="en-GB" dirty="0">
                <a:ea typeface="+mn-lt"/>
                <a:cs typeface="+mn-lt"/>
              </a:rPr>
              <a:t>Shaking Conflicts se </a:t>
            </a:r>
            <a:r>
              <a:rPr lang="en-GB" dirty="0" err="1">
                <a:ea typeface="+mn-lt"/>
                <a:cs typeface="+mn-lt"/>
              </a:rPr>
              <a:t>uvek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provlačio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kao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odlična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opcija</a:t>
            </a:r>
            <a:r>
              <a:rPr lang="en-GB" dirty="0">
                <a:ea typeface="+mn-lt"/>
                <a:cs typeface="+mn-lt"/>
              </a:rPr>
              <a:t>.</a:t>
            </a:r>
            <a:endParaRPr lang="en-GB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B20E02-3914-CC89-139C-21770E946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07AEB-3E8A-460D-880A-5FD1271A75FB}" type="datetime1">
              <a:t>2/7/2026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CAF55A-5878-817A-5265-5AE9D8A64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71F2C9-F9DF-90B3-DD9B-F377EF5C7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1316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2DC38-1082-013F-5788-6D0B2A206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96840"/>
            <a:ext cx="10300137" cy="1122304"/>
          </a:xfrm>
        </p:spPr>
        <p:txBody>
          <a:bodyPr/>
          <a:lstStyle/>
          <a:p>
            <a:r>
              <a:rPr lang="en-GB" dirty="0"/>
              <a:t>Ga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66CFB-CB4D-D6B0-374F-F079DEBD45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25468"/>
            <a:ext cx="10306080" cy="4108770"/>
          </a:xfrm>
        </p:spPr>
        <p:txBody>
          <a:bodyPr vert="horz" lIns="0" tIns="0" rIns="0" bIns="0" rtlCol="0" anchor="t">
            <a:normAutofit fontScale="92500" lnSpcReduction="1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 err="1">
                <a:ea typeface="+mn-lt"/>
                <a:cs typeface="+mn-lt"/>
              </a:rPr>
              <a:t>Implementiran</a:t>
            </a:r>
            <a:r>
              <a:rPr lang="en-US" dirty="0">
                <a:ea typeface="+mn-lt"/>
                <a:cs typeface="+mn-lt"/>
              </a:rPr>
              <a:t> je </a:t>
            </a:r>
            <a:r>
              <a:rPr lang="en-US" dirty="0" err="1">
                <a:ea typeface="+mn-lt"/>
                <a:cs typeface="+mn-lt"/>
              </a:rPr>
              <a:t>genetski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algoritam</a:t>
            </a:r>
            <a:r>
              <a:rPr lang="en-US" dirty="0">
                <a:ea typeface="+mn-lt"/>
                <a:cs typeface="+mn-lt"/>
              </a:rPr>
              <a:t> koji </a:t>
            </a:r>
            <a:r>
              <a:rPr lang="en-US" dirty="0" err="1">
                <a:ea typeface="+mn-lt"/>
                <a:cs typeface="+mn-lt"/>
              </a:rPr>
              <a:t>koristi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različite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mehanizme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selekcije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kao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genetske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operatore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ukrštanja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mutacije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r>
              <a:rPr lang="en-US" dirty="0" err="1">
                <a:ea typeface="+mn-lt"/>
                <a:cs typeface="+mn-lt"/>
              </a:rPr>
              <a:t>Struktura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hromozoma</a:t>
            </a:r>
            <a:r>
              <a:rPr lang="en-US" dirty="0">
                <a:ea typeface="+mn-lt"/>
                <a:cs typeface="+mn-lt"/>
              </a:rPr>
              <a:t>:</a:t>
            </a:r>
          </a:p>
          <a:p>
            <a:pPr marL="571500" lvl="1" indent="-342900"/>
            <a:r>
              <a:rPr lang="en-US" err="1">
                <a:ea typeface="+mn-lt"/>
                <a:cs typeface="+mn-lt"/>
              </a:rPr>
              <a:t>Odstupanje</a:t>
            </a:r>
            <a:r>
              <a:rPr lang="en-US" dirty="0">
                <a:ea typeface="+mn-lt"/>
                <a:cs typeface="+mn-lt"/>
              </a:rPr>
              <a:t> od </a:t>
            </a:r>
            <a:r>
              <a:rPr lang="en-US" err="1">
                <a:ea typeface="+mn-lt"/>
                <a:cs typeface="+mn-lt"/>
              </a:rPr>
              <a:t>standardnog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objektnog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pristupa</a:t>
            </a:r>
            <a:r>
              <a:rPr lang="en-US" dirty="0">
                <a:ea typeface="+mn-lt"/>
                <a:cs typeface="+mn-lt"/>
              </a:rPr>
              <a:t> (bez </a:t>
            </a:r>
            <a:r>
              <a:rPr lang="en-US" dirty="0">
                <a:latin typeface="Consolas"/>
                <a:ea typeface="+mn-lt"/>
                <a:cs typeface="+mn-lt"/>
              </a:rPr>
              <a:t>Individual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klase</a:t>
            </a:r>
            <a:r>
              <a:rPr lang="en-US" dirty="0">
                <a:ea typeface="+mn-lt"/>
                <a:cs typeface="+mn-lt"/>
              </a:rPr>
              <a:t>). </a:t>
            </a:r>
            <a:r>
              <a:rPr lang="en-US" err="1">
                <a:ea typeface="+mn-lt"/>
                <a:cs typeface="+mn-lt"/>
              </a:rPr>
              <a:t>Rešenje</a:t>
            </a:r>
            <a:r>
              <a:rPr lang="en-US" dirty="0">
                <a:ea typeface="+mn-lt"/>
                <a:cs typeface="+mn-lt"/>
              </a:rPr>
              <a:t> je </a:t>
            </a:r>
            <a:r>
              <a:rPr lang="en-US" err="1">
                <a:ea typeface="+mn-lt"/>
                <a:cs typeface="+mn-lt"/>
              </a:rPr>
              <a:t>predstavljeno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kao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b="1" err="1">
                <a:ea typeface="+mn-lt"/>
                <a:cs typeface="+mn-lt"/>
              </a:rPr>
              <a:t>linearni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err="1">
                <a:ea typeface="+mn-lt"/>
                <a:cs typeface="+mn-lt"/>
              </a:rPr>
              <a:t>niz</a:t>
            </a:r>
            <a:r>
              <a:rPr lang="en-US" b="1" dirty="0">
                <a:ea typeface="+mn-lt"/>
                <a:cs typeface="+mn-lt"/>
              </a:rPr>
              <a:t> (Python </a:t>
            </a:r>
            <a:r>
              <a:rPr lang="en-US" b="1" err="1">
                <a:ea typeface="+mn-lt"/>
                <a:cs typeface="+mn-lt"/>
              </a:rPr>
              <a:t>lista</a:t>
            </a:r>
            <a:r>
              <a:rPr lang="en-US" b="1" dirty="0">
                <a:ea typeface="+mn-lt"/>
                <a:cs typeface="+mn-lt"/>
              </a:rPr>
              <a:t>)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pPr marL="571500" lvl="1" indent="-342900"/>
            <a:r>
              <a:rPr lang="en-US" b="1" err="1">
                <a:ea typeface="+mn-lt"/>
                <a:cs typeface="+mn-lt"/>
              </a:rPr>
              <a:t>Indeks</a:t>
            </a:r>
            <a:r>
              <a:rPr lang="en-US" b="1" dirty="0">
                <a:ea typeface="+mn-lt"/>
                <a:cs typeface="+mn-lt"/>
              </a:rPr>
              <a:t>:</a:t>
            </a:r>
            <a:r>
              <a:rPr lang="en-US" dirty="0">
                <a:ea typeface="+mn-lt"/>
                <a:cs typeface="+mn-lt"/>
              </a:rPr>
              <a:t> ID </a:t>
            </a:r>
            <a:r>
              <a:rPr lang="en-US" err="1">
                <a:ea typeface="+mn-lt"/>
                <a:cs typeface="+mn-lt"/>
              </a:rPr>
              <a:t>ivice</a:t>
            </a:r>
            <a:r>
              <a:rPr lang="en-US" dirty="0">
                <a:ea typeface="+mn-lt"/>
                <a:cs typeface="+mn-lt"/>
              </a:rPr>
              <a:t> u </a:t>
            </a:r>
            <a:r>
              <a:rPr lang="en-US" err="1">
                <a:ea typeface="+mn-lt"/>
                <a:cs typeface="+mn-lt"/>
              </a:rPr>
              <a:t>grafu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marL="571500" lvl="1" indent="-342900"/>
            <a:r>
              <a:rPr lang="en-US" b="1" err="1">
                <a:ea typeface="+mn-lt"/>
                <a:cs typeface="+mn-lt"/>
              </a:rPr>
              <a:t>Vrednost</a:t>
            </a:r>
            <a:r>
              <a:rPr lang="en-US" b="1" dirty="0">
                <a:ea typeface="+mn-lt"/>
                <a:cs typeface="+mn-lt"/>
              </a:rPr>
              <a:t>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Dodeljena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boja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marL="571500" lvl="1" indent="-342900"/>
            <a:r>
              <a:rPr lang="en-US" err="1">
                <a:ea typeface="+mn-lt"/>
                <a:cs typeface="+mn-lt"/>
              </a:rPr>
              <a:t>Ključne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prednosti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ovakvog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pristupa</a:t>
            </a:r>
            <a:r>
              <a:rPr lang="en-US" dirty="0">
                <a:ea typeface="+mn-lt"/>
                <a:cs typeface="+mn-lt"/>
              </a:rPr>
              <a:t>: </a:t>
            </a:r>
            <a:r>
              <a:rPr lang="en-US" b="1" err="1">
                <a:ea typeface="+mn-lt"/>
                <a:cs typeface="+mn-lt"/>
              </a:rPr>
              <a:t>Smanjeno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err="1">
                <a:ea typeface="+mn-lt"/>
                <a:cs typeface="+mn-lt"/>
              </a:rPr>
              <a:t>memorijsko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err="1">
                <a:ea typeface="+mn-lt"/>
                <a:cs typeface="+mn-lt"/>
              </a:rPr>
              <a:t>zauzeće</a:t>
            </a:r>
            <a:r>
              <a:rPr lang="en-US" dirty="0">
                <a:ea typeface="+mn-lt"/>
                <a:cs typeface="+mn-lt"/>
              </a:rPr>
              <a:t> (Memory Overhead). </a:t>
            </a:r>
            <a:r>
              <a:rPr lang="en-US" b="1" err="1">
                <a:ea typeface="+mn-lt"/>
                <a:cs typeface="+mn-lt"/>
              </a:rPr>
              <a:t>Povećana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err="1">
                <a:ea typeface="+mn-lt"/>
                <a:cs typeface="+mn-lt"/>
              </a:rPr>
              <a:t>brzina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err="1">
                <a:ea typeface="+mn-lt"/>
                <a:cs typeface="+mn-lt"/>
              </a:rPr>
              <a:t>izvršavanja</a:t>
            </a:r>
            <a:r>
              <a:rPr lang="en-US" dirty="0">
                <a:ea typeface="+mn-lt"/>
                <a:cs typeface="+mn-lt"/>
              </a:rPr>
              <a:t> (</a:t>
            </a:r>
            <a:r>
              <a:rPr lang="en-US" err="1">
                <a:ea typeface="+mn-lt"/>
                <a:cs typeface="+mn-lt"/>
              </a:rPr>
              <a:t>Direktna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manipulacija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podacima</a:t>
            </a:r>
            <a:r>
              <a:rPr lang="en-US" dirty="0">
                <a:ea typeface="+mn-lt"/>
                <a:cs typeface="+mn-lt"/>
              </a:rPr>
              <a:t>). </a:t>
            </a:r>
            <a:r>
              <a:rPr lang="en-US" b="1" err="1">
                <a:ea typeface="+mn-lt"/>
                <a:cs typeface="+mn-lt"/>
              </a:rPr>
              <a:t>Efikasna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err="1">
                <a:ea typeface="+mn-lt"/>
                <a:cs typeface="+mn-lt"/>
              </a:rPr>
              <a:t>integracija</a:t>
            </a:r>
            <a:r>
              <a:rPr lang="en-US" dirty="0">
                <a:ea typeface="+mn-lt"/>
                <a:cs typeface="+mn-lt"/>
              </a:rPr>
              <a:t> (</a:t>
            </a:r>
            <a:r>
              <a:rPr lang="en-US" err="1">
                <a:ea typeface="+mn-lt"/>
                <a:cs typeface="+mn-lt"/>
              </a:rPr>
              <a:t>Lakša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komunikacija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latin typeface="Consolas"/>
                <a:ea typeface="+mn-lt"/>
                <a:cs typeface="+mn-lt"/>
              </a:rPr>
              <a:t>networkx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bibliotekom</a:t>
            </a:r>
            <a:r>
              <a:rPr lang="en-US" dirty="0">
                <a:ea typeface="+mn-lt"/>
                <a:cs typeface="+mn-lt"/>
              </a:rPr>
              <a:t>).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895139-8B1D-A54F-FB03-DA082495D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F8266-751F-4B05-BE76-10D6EA22EF3F}" type="datetime1">
              <a:t>2/7/2026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BE3F1-C3AB-D092-3F67-02DA05D63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90727-CB2D-42A5-EBA7-20D0AA717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332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562F1-E920-D4B1-E90E-B7C0C2105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93080"/>
            <a:ext cx="10297347" cy="923044"/>
          </a:xfrm>
        </p:spPr>
        <p:txBody>
          <a:bodyPr vert="horz" lIns="0" tIns="0" rIns="0" bIns="0" rtlCol="0" anchor="b">
            <a:noAutofit/>
          </a:bodyPr>
          <a:lstStyle/>
          <a:p>
            <a:r>
              <a:rPr lang="en-US" sz="2000" err="1"/>
              <a:t>Ocena</a:t>
            </a:r>
            <a:r>
              <a:rPr lang="en-US" sz="2000" dirty="0"/>
              <a:t> </a:t>
            </a:r>
            <a:r>
              <a:rPr lang="en-US" sz="2000" err="1"/>
              <a:t>rešenja</a:t>
            </a:r>
            <a:r>
              <a:rPr lang="en-US" sz="2000" dirty="0"/>
              <a:t> I </a:t>
            </a:r>
            <a:r>
              <a:rPr lang="en-US" sz="2000" err="1"/>
              <a:t>mehanizmi</a:t>
            </a:r>
            <a:r>
              <a:rPr lang="en-US" sz="2000" dirty="0"/>
              <a:t> </a:t>
            </a:r>
            <a:r>
              <a:rPr lang="en-US" sz="2000" err="1"/>
              <a:t>selekcije</a:t>
            </a:r>
            <a:r>
              <a:rPr lang="en-US" sz="2000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C01D6-2B09-FF31-4B00-74FBD25BF5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US" b="1" dirty="0" err="1">
                <a:ea typeface="+mn-lt"/>
                <a:cs typeface="+mn-lt"/>
              </a:rPr>
              <a:t>Fitnes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funkcija</a:t>
            </a:r>
            <a:r>
              <a:rPr lang="en-US" b="1" dirty="0">
                <a:ea typeface="+mn-lt"/>
                <a:cs typeface="+mn-lt"/>
              </a:rPr>
              <a:t> (Node Slots):</a:t>
            </a:r>
            <a:endParaRPr lang="en-US" dirty="0"/>
          </a:p>
          <a:p>
            <a:pPr marL="457200" lvl="1" indent="0">
              <a:buNone/>
            </a:pPr>
            <a:r>
              <a:rPr lang="en-US" dirty="0" err="1">
                <a:ea typeface="+mn-lt"/>
                <a:cs typeface="+mn-lt"/>
              </a:rPr>
              <a:t>Grupisanje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boja</a:t>
            </a:r>
            <a:r>
              <a:rPr lang="en-US" dirty="0">
                <a:ea typeface="+mn-lt"/>
                <a:cs typeface="+mn-lt"/>
              </a:rPr>
              <a:t> po </a:t>
            </a:r>
            <a:r>
              <a:rPr lang="en-US" dirty="0" err="1">
                <a:ea typeface="+mn-lt"/>
                <a:cs typeface="+mn-lt"/>
              </a:rPr>
              <a:t>čvorovima</a:t>
            </a:r>
            <a:r>
              <a:rPr lang="en-US" dirty="0">
                <a:ea typeface="+mn-lt"/>
                <a:cs typeface="+mn-lt"/>
              </a:rPr>
              <a:t> (</a:t>
            </a:r>
            <a:r>
              <a:rPr lang="en-US" dirty="0" err="1">
                <a:ea typeface="+mn-lt"/>
                <a:cs typeface="+mn-lt"/>
              </a:rPr>
              <a:t>svaki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čvor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ima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svoje</a:t>
            </a:r>
            <a:r>
              <a:rPr lang="en-US" dirty="0">
                <a:ea typeface="+mn-lt"/>
                <a:cs typeface="+mn-lt"/>
              </a:rPr>
              <a:t> "</a:t>
            </a:r>
            <a:r>
              <a:rPr lang="en-US" dirty="0" err="1">
                <a:ea typeface="+mn-lt"/>
                <a:cs typeface="+mn-lt"/>
              </a:rPr>
              <a:t>slotove</a:t>
            </a:r>
            <a:r>
              <a:rPr lang="en-US" dirty="0">
                <a:ea typeface="+mn-lt"/>
                <a:cs typeface="+mn-lt"/>
              </a:rPr>
              <a:t>").</a:t>
            </a:r>
            <a:endParaRPr lang="en-US" dirty="0"/>
          </a:p>
          <a:p>
            <a:pPr marL="457200" lvl="1" indent="0">
              <a:buNone/>
            </a:pPr>
            <a:r>
              <a:rPr lang="en-US" dirty="0" err="1">
                <a:ea typeface="+mn-lt"/>
                <a:cs typeface="+mn-lt"/>
              </a:rPr>
              <a:t>Korišćenje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kombinatorne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formule</a:t>
            </a:r>
            <a:r>
              <a:rPr lang="en-US" dirty="0">
                <a:ea typeface="+mn-lt"/>
                <a:cs typeface="+mn-lt"/>
              </a:rPr>
              <a:t>            za </a:t>
            </a:r>
            <a:r>
              <a:rPr lang="en-US" dirty="0" err="1">
                <a:ea typeface="+mn-lt"/>
                <a:cs typeface="+mn-lt"/>
              </a:rPr>
              <a:t>precizno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kažnjavanje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dupliranih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boja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/>
          </a:p>
          <a:p>
            <a:r>
              <a:rPr lang="en-US" b="1" dirty="0" err="1">
                <a:ea typeface="+mn-lt"/>
                <a:cs typeface="+mn-lt"/>
              </a:rPr>
              <a:t>Selekcija</a:t>
            </a:r>
            <a:r>
              <a:rPr lang="en-US" b="1" dirty="0">
                <a:ea typeface="+mn-lt"/>
                <a:cs typeface="+mn-lt"/>
              </a:rPr>
              <a:t> (</a:t>
            </a:r>
            <a:r>
              <a:rPr lang="en-US" b="1" dirty="0" err="1">
                <a:ea typeface="+mn-lt"/>
                <a:cs typeface="+mn-lt"/>
              </a:rPr>
              <a:t>Strategije</a:t>
            </a:r>
            <a:r>
              <a:rPr lang="en-US" b="1" dirty="0">
                <a:ea typeface="+mn-lt"/>
                <a:cs typeface="+mn-lt"/>
              </a:rPr>
              <a:t>):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 err="1">
                <a:ea typeface="+mn-lt"/>
                <a:cs typeface="+mn-lt"/>
              </a:rPr>
              <a:t>Turnirska</a:t>
            </a:r>
            <a:r>
              <a:rPr lang="en-US" b="1" dirty="0">
                <a:ea typeface="+mn-lt"/>
                <a:cs typeface="+mn-lt"/>
              </a:rPr>
              <a:t>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Najjači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pritisak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najbrže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vodi</a:t>
            </a:r>
            <a:r>
              <a:rPr lang="en-US" dirty="0">
                <a:ea typeface="+mn-lt"/>
                <a:cs typeface="+mn-lt"/>
              </a:rPr>
              <a:t> ka </a:t>
            </a:r>
            <a:r>
              <a:rPr lang="en-US" err="1">
                <a:ea typeface="+mn-lt"/>
                <a:cs typeface="+mn-lt"/>
              </a:rPr>
              <a:t>rešenju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 err="1">
                <a:ea typeface="+mn-lt"/>
                <a:cs typeface="+mn-lt"/>
              </a:rPr>
              <a:t>Ruletska</a:t>
            </a:r>
            <a:r>
              <a:rPr lang="en-US" b="1" dirty="0">
                <a:ea typeface="+mn-lt"/>
                <a:cs typeface="+mn-lt"/>
              </a:rPr>
              <a:t>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Čuva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diverzitet</a:t>
            </a:r>
            <a:r>
              <a:rPr lang="en-US" dirty="0">
                <a:ea typeface="+mn-lt"/>
                <a:cs typeface="+mn-lt"/>
              </a:rPr>
              <a:t> (</a:t>
            </a:r>
            <a:r>
              <a:rPr lang="en-US" err="1">
                <a:ea typeface="+mn-lt"/>
                <a:cs typeface="+mn-lt"/>
              </a:rPr>
              <a:t>šansa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srazmerna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fitnesu</a:t>
            </a:r>
            <a:r>
              <a:rPr lang="en-US" dirty="0">
                <a:ea typeface="+mn-lt"/>
                <a:cs typeface="+mn-lt"/>
              </a:rPr>
              <a:t>).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 dirty="0">
                <a:ea typeface="+mn-lt"/>
                <a:cs typeface="+mn-lt"/>
              </a:rPr>
              <a:t>Rang </a:t>
            </a:r>
            <a:r>
              <a:rPr lang="en-US" b="1" err="1">
                <a:ea typeface="+mn-lt"/>
                <a:cs typeface="+mn-lt"/>
              </a:rPr>
              <a:t>selekcija</a:t>
            </a:r>
            <a:r>
              <a:rPr lang="en-US" b="1" dirty="0">
                <a:ea typeface="+mn-lt"/>
                <a:cs typeface="+mn-lt"/>
              </a:rPr>
              <a:t>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Sprečava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dominaciju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jedne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jedinke</a:t>
            </a:r>
            <a:r>
              <a:rPr lang="en-US" dirty="0">
                <a:ea typeface="+mn-lt"/>
                <a:cs typeface="+mn-lt"/>
              </a:rPr>
              <a:t> (</a:t>
            </a:r>
            <a:r>
              <a:rPr lang="en-US" err="1">
                <a:ea typeface="+mn-lt"/>
                <a:cs typeface="+mn-lt"/>
              </a:rPr>
              <a:t>izbegavanje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lokalnog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optimuma</a:t>
            </a:r>
            <a:r>
              <a:rPr lang="en-US" dirty="0">
                <a:ea typeface="+mn-lt"/>
                <a:cs typeface="+mn-lt"/>
              </a:rPr>
              <a:t>).</a:t>
            </a:r>
            <a:endParaRPr lang="en-US" dirty="0"/>
          </a:p>
          <a:p>
            <a:r>
              <a:rPr lang="en-US" b="1" dirty="0" err="1">
                <a:ea typeface="+mn-lt"/>
                <a:cs typeface="+mn-lt"/>
              </a:rPr>
              <a:t>Elitizam</a:t>
            </a:r>
            <a:r>
              <a:rPr lang="en-US" b="1" dirty="0">
                <a:ea typeface="+mn-lt"/>
                <a:cs typeface="+mn-lt"/>
              </a:rPr>
              <a:t>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Obavezno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čuvanje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dve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najbolje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jedinke</a:t>
            </a:r>
            <a:r>
              <a:rPr lang="en-US" dirty="0">
                <a:ea typeface="+mn-lt"/>
                <a:cs typeface="+mn-lt"/>
              </a:rPr>
              <a:t> za </a:t>
            </a:r>
            <a:r>
              <a:rPr lang="en-US" dirty="0" err="1">
                <a:ea typeface="+mn-lt"/>
                <a:cs typeface="+mn-lt"/>
              </a:rPr>
              <a:t>stabilnost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evolucije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3D2B9-F261-4910-5988-6981C30FA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C706C-2BB3-43A7-A5B7-B8E1EE132D46}" type="datetime1">
              <a:t>2/7/2026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82201-EC3D-006F-78D6-31AFD8179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4BD55-EEE4-07EF-EEE5-C0593C5D0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10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0CDDBF-6BA9-64EE-3E48-3288DE114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1292" y="2975093"/>
            <a:ext cx="645936" cy="456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532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5D43A-AD7B-8BB6-2068-ADFEBFE35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93080"/>
            <a:ext cx="10306754" cy="923044"/>
          </a:xfrm>
        </p:spPr>
        <p:txBody>
          <a:bodyPr/>
          <a:lstStyle/>
          <a:p>
            <a:r>
              <a:rPr lang="en-US" sz="2000" err="1">
                <a:ea typeface="+mj-lt"/>
                <a:cs typeface="+mj-lt"/>
              </a:rPr>
              <a:t>Operatori</a:t>
            </a:r>
            <a:r>
              <a:rPr lang="en-US" sz="2000" dirty="0">
                <a:ea typeface="+mj-lt"/>
                <a:cs typeface="+mj-lt"/>
              </a:rPr>
              <a:t> (</a:t>
            </a:r>
            <a:r>
              <a:rPr lang="en-US" sz="2000" err="1">
                <a:ea typeface="+mj-lt"/>
                <a:cs typeface="+mj-lt"/>
              </a:rPr>
              <a:t>Ukrštanje</a:t>
            </a:r>
            <a:r>
              <a:rPr lang="en-US" sz="2000" dirty="0">
                <a:ea typeface="+mj-lt"/>
                <a:cs typeface="+mj-lt"/>
              </a:rPr>
              <a:t> </a:t>
            </a:r>
            <a:r>
              <a:rPr lang="en-US" sz="2000" err="1">
                <a:ea typeface="+mj-lt"/>
                <a:cs typeface="+mj-lt"/>
              </a:rPr>
              <a:t>i</a:t>
            </a:r>
            <a:r>
              <a:rPr lang="en-US" sz="2000" dirty="0">
                <a:ea typeface="+mj-lt"/>
                <a:cs typeface="+mj-lt"/>
              </a:rPr>
              <a:t> </a:t>
            </a:r>
            <a:r>
              <a:rPr lang="en-US" sz="2000" err="1">
                <a:ea typeface="+mj-lt"/>
                <a:cs typeface="+mj-lt"/>
              </a:rPr>
              <a:t>Mutacija</a:t>
            </a:r>
            <a:r>
              <a:rPr lang="en-US" sz="2000" dirty="0">
                <a:ea typeface="+mj-lt"/>
                <a:cs typeface="+mj-lt"/>
              </a:rPr>
              <a:t>)</a:t>
            </a:r>
            <a:endParaRPr lang="en-US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85BA3A-A94B-B3B9-1A34-B443C5D0E8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973828"/>
            <a:ext cx="10240903" cy="3956179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 b="1" dirty="0" err="1">
                <a:ea typeface="+mn-lt"/>
                <a:cs typeface="+mn-lt"/>
              </a:rPr>
              <a:t>Ukrštanje</a:t>
            </a:r>
            <a:r>
              <a:rPr lang="en-US" b="1" dirty="0">
                <a:ea typeface="+mn-lt"/>
                <a:cs typeface="+mn-lt"/>
              </a:rPr>
              <a:t> (Crossover):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U </a:t>
            </a:r>
            <a:r>
              <a:rPr lang="en-US" dirty="0" err="1">
                <a:ea typeface="+mn-lt"/>
                <a:cs typeface="+mn-lt"/>
              </a:rPr>
              <a:t>jednoj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ili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dve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tačke</a:t>
            </a:r>
            <a:r>
              <a:rPr lang="en-US" dirty="0">
                <a:ea typeface="+mn-lt"/>
                <a:cs typeface="+mn-lt"/>
              </a:rPr>
              <a:t> (</a:t>
            </a:r>
            <a:r>
              <a:rPr lang="en-US" dirty="0" err="1">
                <a:ea typeface="+mn-lt"/>
                <a:cs typeface="+mn-lt"/>
              </a:rPr>
              <a:t>čuvanje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blokova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boja</a:t>
            </a:r>
            <a:r>
              <a:rPr lang="en-US" dirty="0">
                <a:ea typeface="+mn-lt"/>
                <a:cs typeface="+mn-lt"/>
              </a:rPr>
              <a:t>).</a:t>
            </a:r>
            <a:endParaRPr lang="en-US" dirty="0"/>
          </a:p>
          <a:p>
            <a:pPr lvl="1"/>
            <a:r>
              <a:rPr lang="en-US" err="1">
                <a:ea typeface="+mn-lt"/>
                <a:cs typeface="+mn-lt"/>
              </a:rPr>
              <a:t>Uniformno</a:t>
            </a:r>
            <a:r>
              <a:rPr lang="en-US" dirty="0">
                <a:ea typeface="+mn-lt"/>
                <a:cs typeface="+mn-lt"/>
              </a:rPr>
              <a:t> (</a:t>
            </a:r>
            <a:r>
              <a:rPr lang="en-US" err="1">
                <a:ea typeface="+mn-lt"/>
                <a:cs typeface="+mn-lt"/>
              </a:rPr>
              <a:t>maksimalno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mešanje</a:t>
            </a:r>
            <a:r>
              <a:rPr lang="en-US" dirty="0">
                <a:ea typeface="+mn-lt"/>
                <a:cs typeface="+mn-lt"/>
              </a:rPr>
              <a:t> gena za </a:t>
            </a:r>
            <a:r>
              <a:rPr lang="en-US" err="1">
                <a:ea typeface="+mn-lt"/>
                <a:cs typeface="+mn-lt"/>
              </a:rPr>
              <a:t>razbijanje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stagnacije</a:t>
            </a:r>
            <a:r>
              <a:rPr lang="en-US" dirty="0">
                <a:ea typeface="+mn-lt"/>
                <a:cs typeface="+mn-lt"/>
              </a:rPr>
              <a:t>).</a:t>
            </a:r>
            <a:endParaRPr lang="en-US"/>
          </a:p>
          <a:p>
            <a:r>
              <a:rPr lang="en-US" b="1" dirty="0" err="1">
                <a:ea typeface="+mn-lt"/>
                <a:cs typeface="+mn-lt"/>
              </a:rPr>
              <a:t>Mutacija</a:t>
            </a:r>
            <a:r>
              <a:rPr lang="en-US" b="1" dirty="0">
                <a:ea typeface="+mn-lt"/>
                <a:cs typeface="+mn-lt"/>
              </a:rPr>
              <a:t>:</a:t>
            </a:r>
            <a:endParaRPr lang="en-US" dirty="0"/>
          </a:p>
          <a:p>
            <a:pPr lvl="1"/>
            <a:r>
              <a:rPr lang="en-US" b="1" err="1">
                <a:ea typeface="+mn-lt"/>
                <a:cs typeface="+mn-lt"/>
              </a:rPr>
              <a:t>Nasumična</a:t>
            </a:r>
            <a:r>
              <a:rPr lang="en-US" b="1" dirty="0">
                <a:ea typeface="+mn-lt"/>
                <a:cs typeface="+mn-lt"/>
              </a:rPr>
              <a:t>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Održavanje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raznolikosti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na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slepo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/>
          </a:p>
          <a:p>
            <a:pPr lvl="1"/>
            <a:r>
              <a:rPr lang="en-US" b="1" err="1">
                <a:ea typeface="+mn-lt"/>
                <a:cs typeface="+mn-lt"/>
              </a:rPr>
              <a:t>Pametna</a:t>
            </a:r>
            <a:r>
              <a:rPr lang="en-US" b="1" dirty="0">
                <a:ea typeface="+mn-lt"/>
                <a:cs typeface="+mn-lt"/>
              </a:rPr>
              <a:t> (Smart):</a:t>
            </a:r>
            <a:r>
              <a:rPr lang="en-US" dirty="0">
                <a:ea typeface="+mn-lt"/>
                <a:cs typeface="+mn-lt"/>
              </a:rPr>
              <a:t> Provera </a:t>
            </a:r>
            <a:r>
              <a:rPr lang="en-US" err="1">
                <a:ea typeface="+mn-lt"/>
                <a:cs typeface="+mn-lt"/>
              </a:rPr>
              <a:t>susednih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ivica</a:t>
            </a:r>
            <a:r>
              <a:rPr lang="en-US" dirty="0">
                <a:ea typeface="+mn-lt"/>
                <a:cs typeface="+mn-lt"/>
              </a:rPr>
              <a:t> pre </a:t>
            </a:r>
            <a:r>
              <a:rPr lang="en-US" err="1">
                <a:ea typeface="+mn-lt"/>
                <a:cs typeface="+mn-lt"/>
              </a:rPr>
              <a:t>promene</a:t>
            </a:r>
            <a:r>
              <a:rPr lang="en-US" dirty="0">
                <a:ea typeface="+mn-lt"/>
                <a:cs typeface="+mn-lt"/>
              </a:rPr>
              <a:t> (mini-</a:t>
            </a:r>
            <a:r>
              <a:rPr lang="en-US" err="1">
                <a:ea typeface="+mn-lt"/>
                <a:cs typeface="+mn-lt"/>
              </a:rPr>
              <a:t>optimizacija</a:t>
            </a:r>
            <a:r>
              <a:rPr lang="en-US" dirty="0">
                <a:ea typeface="+mn-lt"/>
                <a:cs typeface="+mn-lt"/>
              </a:rPr>
              <a:t>).</a:t>
            </a:r>
            <a:endParaRPr lang="en-US"/>
          </a:p>
          <a:p>
            <a:pPr lvl="1"/>
            <a:r>
              <a:rPr lang="en-US" b="1" dirty="0" err="1">
                <a:ea typeface="+mn-lt"/>
                <a:cs typeface="+mn-lt"/>
              </a:rPr>
              <a:t>Konfliktna</a:t>
            </a:r>
            <a:r>
              <a:rPr lang="en-US" b="1" dirty="0">
                <a:ea typeface="+mn-lt"/>
                <a:cs typeface="+mn-lt"/>
              </a:rPr>
              <a:t>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Ciljano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menjanje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samo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onih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ivica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koje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kvare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fitnes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rezultat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B69F25-BDD6-ED31-9A63-595F24B81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02107-7DB9-445E-A59C-57E733972604}" type="datetime1">
              <a:t>2/7/2026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5F515E-7208-DD9B-F7E8-0DEBAA31F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D0AD3F-B212-5C61-47C7-46FCEDE97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21070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74FD3-B5B4-2356-7FF9-7F699E00B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45006"/>
            <a:ext cx="10306754" cy="932451"/>
          </a:xfrm>
        </p:spPr>
        <p:txBody>
          <a:bodyPr>
            <a:normAutofit/>
          </a:bodyPr>
          <a:lstStyle/>
          <a:p>
            <a:r>
              <a:rPr lang="en-US" sz="2000" err="1">
                <a:ea typeface="+mj-lt"/>
                <a:cs typeface="+mj-lt"/>
              </a:rPr>
              <a:t>Eksperimentalno</a:t>
            </a:r>
            <a:r>
              <a:rPr lang="en-US" sz="2000" dirty="0">
                <a:ea typeface="+mj-lt"/>
                <a:cs typeface="+mj-lt"/>
              </a:rPr>
              <a:t> </a:t>
            </a:r>
            <a:r>
              <a:rPr lang="en-US" sz="2000" err="1">
                <a:ea typeface="+mj-lt"/>
                <a:cs typeface="+mj-lt"/>
              </a:rPr>
              <a:t>testiranje</a:t>
            </a:r>
            <a:r>
              <a:rPr lang="en-US" sz="2000" dirty="0">
                <a:ea typeface="+mj-lt"/>
                <a:cs typeface="+mj-lt"/>
              </a:rPr>
              <a:t> </a:t>
            </a:r>
            <a:r>
              <a:rPr lang="en-US" sz="2000" err="1">
                <a:ea typeface="+mj-lt"/>
                <a:cs typeface="+mj-lt"/>
              </a:rPr>
              <a:t>i</a:t>
            </a:r>
            <a:r>
              <a:rPr lang="en-US" sz="2000" dirty="0">
                <a:ea typeface="+mj-lt"/>
                <a:cs typeface="+mj-lt"/>
              </a:rPr>
              <a:t> </a:t>
            </a:r>
            <a:r>
              <a:rPr lang="en-US" sz="2000" err="1">
                <a:ea typeface="+mj-lt"/>
                <a:cs typeface="+mj-lt"/>
              </a:rPr>
              <a:t>Hibridizacija</a:t>
            </a:r>
            <a:endParaRPr lang="en-US" sz="200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2C901C-F645-0F8E-FD88-E57627AEFB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606939"/>
            <a:ext cx="10306754" cy="4464179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 sz="1800" b="1" err="1">
                <a:ea typeface="+mn-lt"/>
                <a:cs typeface="+mn-lt"/>
              </a:rPr>
              <a:t>Modularno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testiranje</a:t>
            </a:r>
            <a:r>
              <a:rPr lang="en-US" sz="1800" b="1" dirty="0">
                <a:ea typeface="+mn-lt"/>
                <a:cs typeface="+mn-lt"/>
              </a:rPr>
              <a:t>:</a:t>
            </a:r>
            <a:endParaRPr lang="en-US" sz="1800"/>
          </a:p>
          <a:p>
            <a:pPr lvl="1"/>
            <a:r>
              <a:rPr lang="en-US" sz="1800" err="1">
                <a:ea typeface="+mn-lt"/>
                <a:cs typeface="+mn-lt"/>
              </a:rPr>
              <a:t>Sprovedeno</a:t>
            </a:r>
            <a:r>
              <a:rPr lang="en-US" sz="1800" dirty="0">
                <a:ea typeface="+mn-lt"/>
                <a:cs typeface="+mn-lt"/>
              </a:rPr>
              <a:t> je </a:t>
            </a:r>
            <a:r>
              <a:rPr lang="en-US" sz="1800" b="1" dirty="0">
                <a:ea typeface="+mn-lt"/>
                <a:cs typeface="+mn-lt"/>
              </a:rPr>
              <a:t>27 </a:t>
            </a:r>
            <a:r>
              <a:rPr lang="en-US" sz="1800" b="1" err="1">
                <a:ea typeface="+mn-lt"/>
                <a:cs typeface="+mn-lt"/>
              </a:rPr>
              <a:t>različitih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kombinacija</a:t>
            </a:r>
            <a:r>
              <a:rPr lang="en-US" sz="1800" dirty="0">
                <a:ea typeface="+mn-lt"/>
                <a:cs typeface="+mn-lt"/>
              </a:rPr>
              <a:t> (</a:t>
            </a:r>
            <a:r>
              <a:rPr lang="en-US" sz="1800" err="1">
                <a:ea typeface="+mn-lt"/>
                <a:cs typeface="+mn-lt"/>
              </a:rPr>
              <a:t>Selekcija</a:t>
            </a:r>
            <a:r>
              <a:rPr lang="en-US" sz="1800" dirty="0">
                <a:ea typeface="+mn-lt"/>
                <a:cs typeface="+mn-lt"/>
              </a:rPr>
              <a:t> × </a:t>
            </a:r>
            <a:r>
              <a:rPr lang="en-US" sz="1800" err="1">
                <a:ea typeface="+mn-lt"/>
                <a:cs typeface="+mn-lt"/>
              </a:rPr>
              <a:t>Ukrštanje</a:t>
            </a:r>
            <a:r>
              <a:rPr lang="en-US" sz="1800" dirty="0">
                <a:ea typeface="+mn-lt"/>
                <a:cs typeface="+mn-lt"/>
              </a:rPr>
              <a:t> × </a:t>
            </a:r>
            <a:r>
              <a:rPr lang="en-US" sz="1800" err="1">
                <a:ea typeface="+mn-lt"/>
                <a:cs typeface="+mn-lt"/>
              </a:rPr>
              <a:t>Mutacija</a:t>
            </a:r>
            <a:r>
              <a:rPr lang="en-US" sz="1800" dirty="0">
                <a:ea typeface="+mn-lt"/>
                <a:cs typeface="+mn-lt"/>
              </a:rPr>
              <a:t>).</a:t>
            </a:r>
            <a:endParaRPr lang="en-US" sz="1800"/>
          </a:p>
          <a:p>
            <a:pPr lvl="1"/>
            <a:r>
              <a:rPr lang="en-US" sz="1800" b="1" err="1">
                <a:ea typeface="+mn-lt"/>
                <a:cs typeface="+mn-lt"/>
              </a:rPr>
              <a:t>resultsGAold</a:t>
            </a:r>
            <a:r>
              <a:rPr lang="en-US" sz="1800" b="1" dirty="0">
                <a:ea typeface="+mn-lt"/>
                <a:cs typeface="+mn-lt"/>
              </a:rPr>
              <a:t>: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Arhiva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koja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pokazuje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limite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čistog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genetskog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algoritma</a:t>
            </a:r>
            <a:r>
              <a:rPr lang="en-US" sz="1800" dirty="0">
                <a:ea typeface="+mn-lt"/>
                <a:cs typeface="+mn-lt"/>
              </a:rPr>
              <a:t>.</a:t>
            </a:r>
            <a:endParaRPr lang="en-US" sz="1800"/>
          </a:p>
          <a:p>
            <a:pPr lvl="1"/>
            <a:r>
              <a:rPr lang="en-US" sz="1800" b="1" err="1">
                <a:ea typeface="+mn-lt"/>
                <a:cs typeface="+mn-lt"/>
              </a:rPr>
              <a:t>resultsGA</a:t>
            </a:r>
            <a:r>
              <a:rPr lang="en-US" sz="1800" b="1" dirty="0">
                <a:ea typeface="+mn-lt"/>
                <a:cs typeface="+mn-lt"/>
              </a:rPr>
              <a:t> &amp; </a:t>
            </a:r>
            <a:r>
              <a:rPr lang="en-US" sz="1800" b="1" err="1">
                <a:ea typeface="+mn-lt"/>
                <a:cs typeface="+mn-lt"/>
              </a:rPr>
              <a:t>SumUpGA</a:t>
            </a:r>
            <a:r>
              <a:rPr lang="en-US" sz="1800" b="1" dirty="0">
                <a:ea typeface="+mn-lt"/>
                <a:cs typeface="+mn-lt"/>
              </a:rPr>
              <a:t>: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Detaljne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tabele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i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b="1" dirty="0">
                <a:ea typeface="+mn-lt"/>
                <a:cs typeface="+mn-lt"/>
              </a:rPr>
              <a:t>Heatmap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prikazi</a:t>
            </a:r>
            <a:r>
              <a:rPr lang="en-US" sz="1800" dirty="0">
                <a:ea typeface="+mn-lt"/>
                <a:cs typeface="+mn-lt"/>
              </a:rPr>
              <a:t> (2D </a:t>
            </a:r>
            <a:r>
              <a:rPr lang="en-US" sz="1800" err="1">
                <a:ea typeface="+mn-lt"/>
                <a:cs typeface="+mn-lt"/>
              </a:rPr>
              <a:t>vizuelizacija</a:t>
            </a:r>
            <a:r>
              <a:rPr lang="en-US" sz="1800" dirty="0">
                <a:ea typeface="+mn-lt"/>
                <a:cs typeface="+mn-lt"/>
              </a:rPr>
              <a:t> ).</a:t>
            </a:r>
            <a:endParaRPr lang="en-US" sz="1800" dirty="0"/>
          </a:p>
          <a:p>
            <a:r>
              <a:rPr lang="en-US" sz="1800" b="1" err="1">
                <a:ea typeface="+mn-lt"/>
                <a:cs typeface="+mn-lt"/>
              </a:rPr>
              <a:t>Grafikoni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konvergencije</a:t>
            </a:r>
            <a:r>
              <a:rPr lang="en-US" sz="1800" b="1" dirty="0">
                <a:ea typeface="+mn-lt"/>
                <a:cs typeface="+mn-lt"/>
              </a:rPr>
              <a:t>: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Vizuelni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prikaz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opadanja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fitnesa</a:t>
            </a:r>
            <a:r>
              <a:rPr lang="en-US" sz="1800" dirty="0">
                <a:ea typeface="+mn-lt"/>
                <a:cs typeface="+mn-lt"/>
              </a:rPr>
              <a:t> (</a:t>
            </a:r>
            <a:r>
              <a:rPr lang="en-US" sz="1800" err="1">
                <a:ea typeface="+mn-lt"/>
                <a:cs typeface="+mn-lt"/>
              </a:rPr>
              <a:t>nalaze</a:t>
            </a:r>
            <a:r>
              <a:rPr lang="en-US" sz="1800" dirty="0">
                <a:ea typeface="+mn-lt"/>
                <a:cs typeface="+mn-lt"/>
              </a:rPr>
              <a:t> se u </a:t>
            </a:r>
            <a:r>
              <a:rPr lang="en-US" sz="1800" dirty="0">
                <a:latin typeface="Consolas"/>
              </a:rPr>
              <a:t>.</a:t>
            </a:r>
            <a:r>
              <a:rPr lang="en-US" sz="1800" err="1">
                <a:latin typeface="Consolas"/>
              </a:rPr>
              <a:t>ipynb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fajlovima</a:t>
            </a:r>
            <a:r>
              <a:rPr lang="en-US" sz="1800" dirty="0">
                <a:ea typeface="+mn-lt"/>
                <a:cs typeface="+mn-lt"/>
              </a:rPr>
              <a:t>).</a:t>
            </a:r>
            <a:endParaRPr lang="en-US" sz="1800"/>
          </a:p>
          <a:p>
            <a:r>
              <a:rPr lang="en-US" sz="1800" b="1" err="1">
                <a:ea typeface="+mn-lt"/>
                <a:cs typeface="+mn-lt"/>
              </a:rPr>
              <a:t>Proširenje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algoritma</a:t>
            </a:r>
            <a:r>
              <a:rPr lang="en-US" sz="1800" b="1" dirty="0">
                <a:ea typeface="+mn-lt"/>
                <a:cs typeface="+mn-lt"/>
              </a:rPr>
              <a:t> (GA + LS):</a:t>
            </a:r>
            <a:endParaRPr lang="en-US" sz="1800"/>
          </a:p>
          <a:p>
            <a:pPr lvl="1"/>
            <a:r>
              <a:rPr lang="en-US" sz="1800" b="1" err="1">
                <a:ea typeface="+mn-lt"/>
                <a:cs typeface="+mn-lt"/>
              </a:rPr>
              <a:t>LocalSearch</a:t>
            </a:r>
            <a:r>
              <a:rPr lang="en-US" sz="1800" b="1" dirty="0">
                <a:ea typeface="+mn-lt"/>
                <a:cs typeface="+mn-lt"/>
              </a:rPr>
              <a:t>: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Fokus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na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slobodne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boje</a:t>
            </a:r>
            <a:r>
              <a:rPr lang="en-US" sz="1800" dirty="0">
                <a:ea typeface="+mn-lt"/>
                <a:cs typeface="+mn-lt"/>
              </a:rPr>
              <a:t> + </a:t>
            </a:r>
            <a:r>
              <a:rPr lang="en-US" sz="1800" err="1">
                <a:ea typeface="+mn-lt"/>
                <a:cs typeface="+mn-lt"/>
              </a:rPr>
              <a:t>nasumična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promena</a:t>
            </a:r>
            <a:r>
              <a:rPr lang="en-US" sz="1800" dirty="0">
                <a:ea typeface="+mn-lt"/>
                <a:cs typeface="+mn-lt"/>
              </a:rPr>
              <a:t> (</a:t>
            </a:r>
            <a:r>
              <a:rPr lang="en-US" sz="1800" err="1">
                <a:ea typeface="+mn-lt"/>
                <a:cs typeface="+mn-lt"/>
              </a:rPr>
              <a:t>diverzitet</a:t>
            </a:r>
            <a:r>
              <a:rPr lang="en-US" sz="1800" dirty="0">
                <a:ea typeface="+mn-lt"/>
                <a:cs typeface="+mn-lt"/>
              </a:rPr>
              <a:t>).</a:t>
            </a:r>
            <a:endParaRPr lang="en-US" sz="1800"/>
          </a:p>
          <a:p>
            <a:pPr lvl="1"/>
            <a:r>
              <a:rPr lang="en-US" sz="1800" b="1" err="1">
                <a:ea typeface="+mn-lt"/>
                <a:cs typeface="+mn-lt"/>
              </a:rPr>
              <a:t>GreedyLocalSearch</a:t>
            </a:r>
            <a:r>
              <a:rPr lang="en-US" sz="1800" b="1" dirty="0">
                <a:ea typeface="+mn-lt"/>
                <a:cs typeface="+mn-lt"/>
              </a:rPr>
              <a:t>: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Strategija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minimizacije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konflikata</a:t>
            </a:r>
            <a:r>
              <a:rPr lang="en-US" sz="1800" dirty="0">
                <a:ea typeface="+mn-lt"/>
                <a:cs typeface="+mn-lt"/>
              </a:rPr>
              <a:t> (</a:t>
            </a:r>
            <a:r>
              <a:rPr lang="en-US" sz="1800" err="1">
                <a:ea typeface="+mn-lt"/>
                <a:cs typeface="+mn-lt"/>
              </a:rPr>
              <a:t>neophodna</a:t>
            </a:r>
            <a:r>
              <a:rPr lang="en-US" sz="1800" dirty="0">
                <a:ea typeface="+mn-lt"/>
                <a:cs typeface="+mn-lt"/>
              </a:rPr>
              <a:t> za </a:t>
            </a:r>
            <a:r>
              <a:rPr lang="en-US" sz="1800" err="1">
                <a:ea typeface="+mn-lt"/>
                <a:cs typeface="+mn-lt"/>
              </a:rPr>
              <a:t>grafove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velikog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stepena</a:t>
            </a:r>
            <a:r>
              <a:rPr lang="en-US" sz="1800" dirty="0">
                <a:ea typeface="+mn-lt"/>
                <a:cs typeface="+mn-lt"/>
              </a:rPr>
              <a:t> Δ).</a:t>
            </a:r>
            <a:endParaRPr lang="en-US" sz="1800"/>
          </a:p>
          <a:p>
            <a:r>
              <a:rPr lang="en-US" sz="1800" b="1" err="1">
                <a:ea typeface="+mn-lt"/>
                <a:cs typeface="+mn-lt"/>
              </a:rPr>
              <a:t>Ograničenja</a:t>
            </a:r>
            <a:r>
              <a:rPr lang="en-US" sz="1800" b="1" dirty="0">
                <a:ea typeface="+mn-lt"/>
                <a:cs typeface="+mn-lt"/>
              </a:rPr>
              <a:t>: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Uvedeno</a:t>
            </a:r>
            <a:r>
              <a:rPr lang="en-US" sz="1800" dirty="0">
                <a:ea typeface="+mn-lt"/>
                <a:cs typeface="+mn-lt"/>
              </a:rPr>
              <a:t> je </a:t>
            </a:r>
            <a:r>
              <a:rPr lang="en-US" sz="1800" b="1" err="1">
                <a:ea typeface="+mn-lt"/>
                <a:cs typeface="+mn-lt"/>
              </a:rPr>
              <a:t>vremensko</a:t>
            </a:r>
            <a:r>
              <a:rPr lang="en-US" sz="1800" b="1" dirty="0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ograničenje</a:t>
            </a:r>
            <a:r>
              <a:rPr lang="en-US" sz="1800" dirty="0">
                <a:ea typeface="+mn-lt"/>
                <a:cs typeface="+mn-lt"/>
              </a:rPr>
              <a:t> po </a:t>
            </a:r>
            <a:r>
              <a:rPr lang="en-US" sz="1800" err="1">
                <a:ea typeface="+mn-lt"/>
                <a:cs typeface="+mn-lt"/>
              </a:rPr>
              <a:t>kombinaciji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radi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efikasnosti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resursa</a:t>
            </a:r>
            <a:r>
              <a:rPr lang="en-US" sz="1800" dirty="0">
                <a:ea typeface="+mn-lt"/>
                <a:cs typeface="+mn-lt"/>
              </a:rPr>
              <a:t>.</a:t>
            </a:r>
            <a:endParaRPr lang="en-US" sz="1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AA1D5-5FFB-F16B-6055-199FFAF42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0DA23-B4A8-440D-9AFA-7C1E5D0F3A9F}" type="datetime1">
              <a:t>2/7/2026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E5C1EA-8E8F-CD87-FCDA-FC61F858B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541F1E-FB7E-CE43-E9D8-20516E1DE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84288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67FFDB-3A4E-1569-FF08-EFF60DF07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D9886-1167-4DED-BA3C-9F2715F6AF1D}" type="datetime1">
              <a:t>2/7/2026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50B03E-92EF-CD0E-6A3E-989B0D6A4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A66029-5575-CEB1-593E-628F8D774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13</a:t>
            </a:fld>
            <a:endParaRPr lang="en-US" dirty="0"/>
          </a:p>
        </p:txBody>
      </p:sp>
      <p:pic>
        <p:nvPicPr>
          <p:cNvPr id="5" name="Picture 4" descr="A chart with red and yellow squares&#10;&#10;AI-generated content may be incorrect.">
            <a:extLst>
              <a:ext uri="{FF2B5EF4-FFF2-40B4-BE49-F238E27FC236}">
                <a16:creationId xmlns:a16="http://schemas.microsoft.com/office/drawing/2014/main" id="{D6D9EF7E-6E16-9208-17F0-603922E623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2" r="-84" b="2251"/>
          <a:stretch>
            <a:fillRect/>
          </a:stretch>
        </p:blipFill>
        <p:spPr>
          <a:xfrm>
            <a:off x="0" y="0"/>
            <a:ext cx="7673447" cy="3092530"/>
          </a:xfrm>
          <a:prstGeom prst="rect">
            <a:avLst/>
          </a:prstGeom>
        </p:spPr>
      </p:pic>
      <p:pic>
        <p:nvPicPr>
          <p:cNvPr id="6" name="Picture 5" descr="A screenshot of a graph&#10;&#10;AI-generated content may be incorrect.">
            <a:extLst>
              <a:ext uri="{FF2B5EF4-FFF2-40B4-BE49-F238E27FC236}">
                <a16:creationId xmlns:a16="http://schemas.microsoft.com/office/drawing/2014/main" id="{B1E45823-271E-6423-08A6-F33679C5CC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6877" y="4788408"/>
            <a:ext cx="4524963" cy="1616490"/>
          </a:xfrm>
          <a:prstGeom prst="rect">
            <a:avLst/>
          </a:prstGeom>
        </p:spPr>
      </p:pic>
      <p:pic>
        <p:nvPicPr>
          <p:cNvPr id="7" name="Picture 6" descr="A blue squares with white text&#10;&#10;AI-generated content may be incorrect.">
            <a:extLst>
              <a:ext uri="{FF2B5EF4-FFF2-40B4-BE49-F238E27FC236}">
                <a16:creationId xmlns:a16="http://schemas.microsoft.com/office/drawing/2014/main" id="{88D41177-8BAC-524F-39B7-6A150F08506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0" t="189" r="114" b="-52"/>
          <a:stretch>
            <a:fillRect/>
          </a:stretch>
        </p:blipFill>
        <p:spPr>
          <a:xfrm>
            <a:off x="7660111" y="0"/>
            <a:ext cx="4518342" cy="21398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C49A551-F53F-CA90-D65C-F6BDD8CBC7E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92" t="2794" r="-149" b="-223"/>
          <a:stretch>
            <a:fillRect/>
          </a:stretch>
        </p:blipFill>
        <p:spPr>
          <a:xfrm>
            <a:off x="3574645" y="3080847"/>
            <a:ext cx="4094903" cy="33274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2414841-ADA2-09C3-4942-8A74BA32E8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70" y="3085831"/>
            <a:ext cx="3575756" cy="3333962"/>
          </a:xfrm>
          <a:prstGeom prst="rect">
            <a:avLst/>
          </a:prstGeom>
        </p:spPr>
      </p:pic>
      <p:pic>
        <p:nvPicPr>
          <p:cNvPr id="10" name="Picture 9" descr="A screenshot of a graph&#10;&#10;AI-generated content may be incorrect.">
            <a:extLst>
              <a:ext uri="{FF2B5EF4-FFF2-40B4-BE49-F238E27FC236}">
                <a16:creationId xmlns:a16="http://schemas.microsoft.com/office/drawing/2014/main" id="{919718D8-7F81-D4AD-55BB-26AE607643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60111" y="2140480"/>
            <a:ext cx="4518496" cy="2661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6841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00C50-6957-04CF-4AA5-A5DFC2453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93080"/>
            <a:ext cx="10306754" cy="584378"/>
          </a:xfrm>
        </p:spPr>
        <p:txBody>
          <a:bodyPr>
            <a:normAutofit/>
          </a:bodyPr>
          <a:lstStyle/>
          <a:p>
            <a:r>
              <a:rPr lang="en-US" sz="2000" err="1"/>
              <a:t>Zaključak</a:t>
            </a:r>
            <a:endParaRPr lang="en-US" sz="2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656102-45EF-0328-047E-FF22BBFDC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31680"/>
            <a:ext cx="10297347" cy="4539438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 b="1" dirty="0">
                <a:ea typeface="+mn-lt"/>
                <a:cs typeface="+mn-lt"/>
              </a:rPr>
              <a:t>Analiza </a:t>
            </a:r>
            <a:r>
              <a:rPr lang="en-US" b="1" dirty="0" err="1">
                <a:ea typeface="+mn-lt"/>
                <a:cs typeface="+mn-lt"/>
              </a:rPr>
              <a:t>operatora</a:t>
            </a:r>
            <a:r>
              <a:rPr lang="en-US" b="1" dirty="0">
                <a:ea typeface="+mn-lt"/>
                <a:cs typeface="+mn-lt"/>
              </a:rPr>
              <a:t>: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 dirty="0" err="1">
                <a:ea typeface="+mn-lt"/>
                <a:cs typeface="+mn-lt"/>
              </a:rPr>
              <a:t>Selekcija</a:t>
            </a:r>
            <a:r>
              <a:rPr lang="en-US" b="1" dirty="0">
                <a:ea typeface="+mn-lt"/>
                <a:cs typeface="+mn-lt"/>
              </a:rPr>
              <a:t>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>
                <a:ea typeface="+mn-lt"/>
                <a:cs typeface="+mn-lt"/>
              </a:rPr>
              <a:t>Tournament</a:t>
            </a:r>
            <a:r>
              <a:rPr lang="en-US" dirty="0">
                <a:ea typeface="+mn-lt"/>
                <a:cs typeface="+mn-lt"/>
              </a:rPr>
              <a:t> je </a:t>
            </a:r>
            <a:r>
              <a:rPr lang="en-US" dirty="0" err="1">
                <a:ea typeface="+mn-lt"/>
                <a:cs typeface="+mn-lt"/>
              </a:rPr>
              <a:t>apsolutni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favorit</a:t>
            </a:r>
            <a:r>
              <a:rPr lang="en-US" dirty="0">
                <a:ea typeface="+mn-lt"/>
                <a:cs typeface="+mn-lt"/>
              </a:rPr>
              <a:t>; </a:t>
            </a:r>
            <a:r>
              <a:rPr lang="en-US" b="1" dirty="0">
                <a:ea typeface="+mn-lt"/>
                <a:cs typeface="+mn-lt"/>
              </a:rPr>
              <a:t>Roulette</a:t>
            </a:r>
            <a:r>
              <a:rPr lang="en-US" dirty="0">
                <a:ea typeface="+mn-lt"/>
                <a:cs typeface="+mn-lt"/>
              </a:rPr>
              <a:t> se </a:t>
            </a:r>
            <a:r>
              <a:rPr lang="en-US" dirty="0" err="1">
                <a:ea typeface="+mn-lt"/>
                <a:cs typeface="+mn-lt"/>
              </a:rPr>
              <a:t>pokazao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kao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najlošiji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izbor</a:t>
            </a:r>
            <a:r>
              <a:rPr lang="en-US" dirty="0">
                <a:ea typeface="+mn-lt"/>
                <a:cs typeface="+mn-lt"/>
              </a:rPr>
              <a:t> (</a:t>
            </a:r>
            <a:r>
              <a:rPr lang="en-US" dirty="0" err="1">
                <a:ea typeface="+mn-lt"/>
                <a:cs typeface="+mn-lt"/>
              </a:rPr>
              <a:t>stagnacija</a:t>
            </a:r>
            <a:r>
              <a:rPr lang="en-US" dirty="0">
                <a:ea typeface="+mn-lt"/>
                <a:cs typeface="+mn-lt"/>
              </a:rPr>
              <a:t>).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 err="1">
                <a:ea typeface="+mn-lt"/>
                <a:cs typeface="+mn-lt"/>
              </a:rPr>
              <a:t>Mutacija</a:t>
            </a:r>
            <a:r>
              <a:rPr lang="en-US" b="1" dirty="0">
                <a:ea typeface="+mn-lt"/>
                <a:cs typeface="+mn-lt"/>
              </a:rPr>
              <a:t>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>
                <a:ea typeface="+mn-lt"/>
                <a:cs typeface="+mn-lt"/>
              </a:rPr>
              <a:t>Conflict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>
                <a:ea typeface="+mn-lt"/>
                <a:cs typeface="+mn-lt"/>
              </a:rPr>
              <a:t>Smart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operatori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najpouzdaniji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jer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direktno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ciljaju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problematične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ivice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 err="1">
                <a:ea typeface="+mn-lt"/>
                <a:cs typeface="+mn-lt"/>
              </a:rPr>
              <a:t>Ukrštanje</a:t>
            </a:r>
            <a:r>
              <a:rPr lang="en-US" b="1" dirty="0">
                <a:ea typeface="+mn-lt"/>
                <a:cs typeface="+mn-lt"/>
              </a:rPr>
              <a:t>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Slične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performanse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uz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blagu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prednost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>
                <a:ea typeface="+mn-lt"/>
                <a:cs typeface="+mn-lt"/>
              </a:rPr>
              <a:t>Two-point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operatora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/>
          </a:p>
          <a:p>
            <a:r>
              <a:rPr lang="en-US" b="1" dirty="0" err="1">
                <a:ea typeface="+mn-lt"/>
                <a:cs typeface="+mn-lt"/>
              </a:rPr>
              <a:t>Ključni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uvid</a:t>
            </a:r>
            <a:r>
              <a:rPr lang="en-US" b="1" dirty="0">
                <a:ea typeface="+mn-lt"/>
                <a:cs typeface="+mn-lt"/>
              </a:rPr>
              <a:t>:</a:t>
            </a:r>
            <a:r>
              <a:rPr lang="en-US" dirty="0">
                <a:ea typeface="+mn-lt"/>
                <a:cs typeface="+mn-lt"/>
              </a:rPr>
              <a:t> Dok </a:t>
            </a:r>
            <a:r>
              <a:rPr lang="en-US" dirty="0" err="1">
                <a:ea typeface="+mn-lt"/>
                <a:cs typeface="+mn-lt"/>
              </a:rPr>
              <a:t>genetski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algoritam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vrši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globalnu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pretragu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širokog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prostora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rešenja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lokalna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pretraga</a:t>
            </a:r>
            <a:r>
              <a:rPr lang="en-US" dirty="0">
                <a:ea typeface="+mn-lt"/>
                <a:cs typeface="+mn-lt"/>
              </a:rPr>
              <a:t> (LS) </a:t>
            </a:r>
            <a:r>
              <a:rPr lang="en-US" dirty="0" err="1">
                <a:ea typeface="+mn-lt"/>
                <a:cs typeface="+mn-lt"/>
              </a:rPr>
              <a:t>deluje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kao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precizni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mehanizam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popravke</a:t>
            </a:r>
            <a:r>
              <a:rPr lang="en-US" dirty="0">
                <a:ea typeface="+mn-lt"/>
                <a:cs typeface="+mn-lt"/>
              </a:rPr>
              <a:t> koji je bio </a:t>
            </a:r>
            <a:r>
              <a:rPr lang="en-US" dirty="0" err="1">
                <a:ea typeface="+mn-lt"/>
                <a:cs typeface="+mn-lt"/>
              </a:rPr>
              <a:t>ključan</a:t>
            </a:r>
            <a:r>
              <a:rPr lang="en-US" dirty="0">
                <a:ea typeface="+mn-lt"/>
                <a:cs typeface="+mn-lt"/>
              </a:rPr>
              <a:t> za </a:t>
            </a:r>
            <a:r>
              <a:rPr lang="en-US" dirty="0" err="1">
                <a:ea typeface="+mn-lt"/>
                <a:cs typeface="+mn-lt"/>
              </a:rPr>
              <a:t>eliminaciju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konflikata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svim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eksperimentalnim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grafovima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naročito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kod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onih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ekstremno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visokim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stepenom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čvorova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30295-E883-BD9E-B913-3BC805C4D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C0809-E2F2-43D0-A91A-1A08799681FA}" type="datetime1">
              <a:t>2/7/2026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847DBE-E16B-A735-E473-019F5F99D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7D77F3-0810-3B32-EAE4-2AFAA1C7E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09778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A3CA76-5AD1-CB6E-AEBB-1FBD9E476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6A917-CEE8-4D06-9317-0F868A9BA586}" type="datetime1">
              <a:t>2/7/2026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6FB30F-ED12-DA32-FCF4-C2850D275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F8F3C1-871C-F069-EB10-C17948E77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15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7FF233-D273-C52A-BD3A-B1F8D01D79CE}"/>
              </a:ext>
            </a:extLst>
          </p:cNvPr>
          <p:cNvSpPr txBox="1"/>
          <p:nvPr/>
        </p:nvSpPr>
        <p:spPr>
          <a:xfrm>
            <a:off x="372436" y="290966"/>
            <a:ext cx="496969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err="1"/>
              <a:t>Poredjenje</a:t>
            </a:r>
            <a:r>
              <a:rPr lang="en-US" sz="2000" b="1" dirty="0"/>
              <a:t> VNS I GA</a:t>
            </a:r>
          </a:p>
        </p:txBody>
      </p:sp>
      <p:pic>
        <p:nvPicPr>
          <p:cNvPr id="6" name="Picture 5" descr="A graph with green and blue vertical bars&#10;&#10;AI-generated content may be incorrect.">
            <a:extLst>
              <a:ext uri="{FF2B5EF4-FFF2-40B4-BE49-F238E27FC236}">
                <a16:creationId xmlns:a16="http://schemas.microsoft.com/office/drawing/2014/main" id="{C34E85BA-1788-D531-0D97-F8F577B2B8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50" y="733913"/>
            <a:ext cx="5688379" cy="28208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2FD33B-3F93-F468-3B93-7CDD2E2819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2273" y="665529"/>
            <a:ext cx="5903302" cy="29478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5097CB0-1933-79D2-552B-D4C65863EE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042" y="3557221"/>
            <a:ext cx="5502764" cy="269386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D4702B5-63A0-57C9-DE3F-1DC7B3E8FC09}"/>
              </a:ext>
            </a:extLst>
          </p:cNvPr>
          <p:cNvSpPr txBox="1"/>
          <p:nvPr/>
        </p:nvSpPr>
        <p:spPr>
          <a:xfrm>
            <a:off x="6944586" y="4321069"/>
            <a:ext cx="4492513" cy="14897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U </a:t>
            </a:r>
            <a:r>
              <a:rPr lang="en-US" dirty="0" err="1">
                <a:ea typeface="+mn-lt"/>
                <a:cs typeface="+mn-lt"/>
              </a:rPr>
              <a:t>većini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grupa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grafova</a:t>
            </a:r>
            <a:r>
              <a:rPr lang="en-US" dirty="0">
                <a:ea typeface="+mn-lt"/>
                <a:cs typeface="+mn-lt"/>
              </a:rPr>
              <a:t> GA+LS se </a:t>
            </a:r>
            <a:r>
              <a:rPr lang="en-US" dirty="0" err="1">
                <a:ea typeface="+mn-lt"/>
                <a:cs typeface="+mn-lt"/>
              </a:rPr>
              <a:t>pokazao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bolje</a:t>
            </a:r>
            <a:r>
              <a:rPr lang="en-US" dirty="0">
                <a:ea typeface="+mn-lt"/>
                <a:cs typeface="+mn-lt"/>
              </a:rPr>
              <a:t>. </a:t>
            </a:r>
            <a:r>
              <a:rPr lang="en-US" dirty="0" err="1">
                <a:ea typeface="+mn-lt"/>
                <a:cs typeface="+mn-lt"/>
              </a:rPr>
              <a:t>Medjutim</a:t>
            </a:r>
            <a:r>
              <a:rPr lang="en-US" dirty="0">
                <a:ea typeface="+mn-lt"/>
                <a:cs typeface="+mn-lt"/>
              </a:rPr>
              <a:t>, mora se </a:t>
            </a:r>
            <a:r>
              <a:rPr lang="en-US" dirty="0" err="1">
                <a:ea typeface="+mn-lt"/>
                <a:cs typeface="+mn-lt"/>
              </a:rPr>
              <a:t>primetiti</a:t>
            </a:r>
            <a:r>
              <a:rPr lang="en-US" dirty="0">
                <a:ea typeface="+mn-lt"/>
                <a:cs typeface="+mn-lt"/>
              </a:rPr>
              <a:t> da </a:t>
            </a:r>
            <a:r>
              <a:rPr lang="en-US" dirty="0" err="1">
                <a:ea typeface="+mn-lt"/>
                <a:cs typeface="+mn-lt"/>
              </a:rPr>
              <a:t>pri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kompleksnijim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grafovima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više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kombinacija</a:t>
            </a:r>
            <a:r>
              <a:rPr lang="en-US" dirty="0">
                <a:ea typeface="+mn-lt"/>
                <a:cs typeface="+mn-lt"/>
              </a:rPr>
              <a:t> VNS </a:t>
            </a:r>
            <a:r>
              <a:rPr lang="en-US" dirty="0" err="1">
                <a:ea typeface="+mn-lt"/>
                <a:cs typeface="+mn-lt"/>
              </a:rPr>
              <a:t>uspeva</a:t>
            </a:r>
            <a:r>
              <a:rPr lang="en-US" dirty="0">
                <a:ea typeface="+mn-lt"/>
                <a:cs typeface="+mn-lt"/>
              </a:rPr>
              <a:t> da </a:t>
            </a:r>
            <a:r>
              <a:rPr lang="en-US" dirty="0" err="1">
                <a:ea typeface="+mn-lt"/>
                <a:cs typeface="+mn-lt"/>
              </a:rPr>
              <a:t>nadje</a:t>
            </a:r>
            <a:r>
              <a:rPr lang="en-US" dirty="0">
                <a:ea typeface="+mn-lt"/>
                <a:cs typeface="+mn-lt"/>
              </a:rPr>
              <a:t> Δ </a:t>
            </a:r>
            <a:r>
              <a:rPr lang="en-US" dirty="0" err="1">
                <a:ea typeface="+mn-lt"/>
                <a:cs typeface="+mn-lt"/>
              </a:rPr>
              <a:t>bojenje</a:t>
            </a:r>
            <a:r>
              <a:rPr lang="en-US" dirty="0">
                <a:ea typeface="+mn-lt"/>
                <a:cs typeface="+mn-lt"/>
              </a:rPr>
              <a:t>. 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3684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EAD2E-3AB1-058B-ED8F-BE431DBF89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HVALA NA PAŽNJI!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8A82D9-407C-B79A-8EC2-89B2823921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328838"/>
            <a:ext cx="9144000" cy="1433423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Ivana </a:t>
            </a:r>
            <a:r>
              <a:rPr lang="en-US" dirty="0" err="1"/>
              <a:t>Ivaneža</a:t>
            </a:r>
          </a:p>
          <a:p>
            <a:r>
              <a:rPr lang="en-US" dirty="0"/>
              <a:t>Marija </a:t>
            </a:r>
            <a:r>
              <a:rPr lang="en-US" dirty="0" err="1"/>
              <a:t>vučetić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BAF51-E3C9-9871-1C8E-D96C01BF3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D5271-A51F-4B56-A8B3-D4F2295352A3}" type="datetime1">
              <a:t>2/7/2026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748FC5-D33E-2ABF-8829-4C3C5A9EF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B61F9-4F36-8955-1448-28A09C08E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16</a:t>
            </a:fld>
            <a:endParaRPr lang="en-US" dirty="0"/>
          </a:p>
        </p:txBody>
      </p:sp>
      <p:pic>
        <p:nvPicPr>
          <p:cNvPr id="7" name="Picture 6" descr="A network of colored lines and dots&#10;&#10;AI-generated content may be incorrect.">
            <a:extLst>
              <a:ext uri="{FF2B5EF4-FFF2-40B4-BE49-F238E27FC236}">
                <a16:creationId xmlns:a16="http://schemas.microsoft.com/office/drawing/2014/main" id="{B1C72686-6681-6E42-0AD0-9C1F65E3C3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74" y="85359"/>
            <a:ext cx="3482732" cy="2652591"/>
          </a:xfrm>
          <a:prstGeom prst="rect">
            <a:avLst/>
          </a:prstGeom>
        </p:spPr>
      </p:pic>
      <p:pic>
        <p:nvPicPr>
          <p:cNvPr id="8" name="Picture 7" descr="A network of colored lines and dots&#10;&#10;AI-generated content may be incorrect.">
            <a:extLst>
              <a:ext uri="{FF2B5EF4-FFF2-40B4-BE49-F238E27FC236}">
                <a16:creationId xmlns:a16="http://schemas.microsoft.com/office/drawing/2014/main" id="{0A59E144-BE81-8C99-D74B-1357162279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288" y="3758590"/>
            <a:ext cx="3345963" cy="2496284"/>
          </a:xfrm>
          <a:prstGeom prst="rect">
            <a:avLst/>
          </a:prstGeom>
        </p:spPr>
      </p:pic>
      <p:pic>
        <p:nvPicPr>
          <p:cNvPr id="9" name="Picture 8" descr="A network of colored lines and dots&#10;&#10;AI-generated content may be incorrect.">
            <a:extLst>
              <a:ext uri="{FF2B5EF4-FFF2-40B4-BE49-F238E27FC236}">
                <a16:creationId xmlns:a16="http://schemas.microsoft.com/office/drawing/2014/main" id="{28ECA394-8CED-ED2E-CC91-C4C63D9510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8750" y="222128"/>
            <a:ext cx="2828193" cy="2144591"/>
          </a:xfrm>
          <a:prstGeom prst="rect">
            <a:avLst/>
          </a:prstGeom>
        </p:spPr>
      </p:pic>
      <p:pic>
        <p:nvPicPr>
          <p:cNvPr id="10" name="Picture 9" descr="A network of colored lines and dots&#10;&#10;AI-generated content may be incorrect.">
            <a:extLst>
              <a:ext uri="{FF2B5EF4-FFF2-40B4-BE49-F238E27FC236}">
                <a16:creationId xmlns:a16="http://schemas.microsoft.com/office/drawing/2014/main" id="{EB0F2CBE-60ED-94E2-8710-3E1A7B409C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5135" y="3651128"/>
            <a:ext cx="3521808" cy="272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891655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RiseVTI">
  <a:themeElements>
    <a:clrScheme name="GradientRiseVTI">
      <a:dk1>
        <a:sysClr val="windowText" lastClr="000000"/>
      </a:dk1>
      <a:lt1>
        <a:srgbClr val="FFFFFF"/>
      </a:lt1>
      <a:dk2>
        <a:srgbClr val="3C0F3A"/>
      </a:dk2>
      <a:lt2>
        <a:srgbClr val="F1F2F2"/>
      </a:lt2>
      <a:accent1>
        <a:srgbClr val="A6025C"/>
      </a:accent1>
      <a:accent2>
        <a:srgbClr val="92248E"/>
      </a:accent2>
      <a:accent3>
        <a:srgbClr val="DE95C4"/>
      </a:accent3>
      <a:accent4>
        <a:srgbClr val="FE4A00"/>
      </a:accent4>
      <a:accent5>
        <a:srgbClr val="DA002F"/>
      </a:accent5>
      <a:accent6>
        <a:srgbClr val="FF907A"/>
      </a:accent6>
      <a:hlink>
        <a:srgbClr val="CA71E4"/>
      </a:hlink>
      <a:folHlink>
        <a:srgbClr val="E45E49"/>
      </a:folHlink>
    </a:clrScheme>
    <a:fontScheme name="GradientRiseVTI">
      <a:majorFont>
        <a:latin typeface="Avenir Next LT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GradientRis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RiseVTI" id="{13C68A69-E745-489A-84EC-B7BCE4AA380B}" vid="{9CF7857A-9412-4E45-AB0D-6EAA5A7DC4C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GradientRiseVTI</vt:lpstr>
      <vt:lpstr>Minimum edge coloring</vt:lpstr>
      <vt:lpstr>OPis </vt:lpstr>
      <vt:lpstr>PowerPoint Presentation</vt:lpstr>
      <vt:lpstr>VNS</vt:lpstr>
      <vt:lpstr>PowerPoint Presentation</vt:lpstr>
      <vt:lpstr>PowerPoint Presentation</vt:lpstr>
      <vt:lpstr>PowerPoint Presentation</vt:lpstr>
      <vt:lpstr>PowerPoint Presentation</vt:lpstr>
      <vt:lpstr>Ga</vt:lpstr>
      <vt:lpstr>Ocena rešenja I mehanizmi selekcije:</vt:lpstr>
      <vt:lpstr>Operatori (Ukrštanje i Mutacija)</vt:lpstr>
      <vt:lpstr>Eksperimentalno testiranje i Hibridizacija</vt:lpstr>
      <vt:lpstr>PowerPoint Presentation</vt:lpstr>
      <vt:lpstr>Zaključak</vt:lpstr>
      <vt:lpstr>PowerPoint Presentation</vt:lpstr>
      <vt:lpstr>HVALA NA PAŽNJI!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551</cp:revision>
  <dcterms:created xsi:type="dcterms:W3CDTF">2026-02-07T14:49:27Z</dcterms:created>
  <dcterms:modified xsi:type="dcterms:W3CDTF">2026-02-07T20:44:28Z</dcterms:modified>
</cp:coreProperties>
</file>